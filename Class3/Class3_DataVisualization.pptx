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Visual Perception &amp; Cognitive 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400"/>
            </a:pPr>
            <a:r>
              <a:t>## Data Types, Encodings &amp; Grammar of Graphics</a:t>
            </a:r>
          </a:p>
          <a:p>
            <a:pPr>
              <a:spcBef>
                <a:spcPts val="600"/>
              </a:spcBef>
              <a:defRPr sz="1400"/>
            </a:pPr>
            <a:r>
              <a:t>## Python Visualization Fundamentals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Slide 1 – Class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400"/>
            </a:pPr>
            <a:r>
              <a:t>Today's Learning Objectives</a:t>
            </a:r>
          </a:p>
          <a:p>
            <a:pPr>
              <a:spcBef>
                <a:spcPts val="600"/>
              </a:spcBef>
              <a:defRPr sz="1400"/>
            </a:pPr>
            <a:r>
              <a:t>Understand how humans perceive visual information</a:t>
            </a:r>
          </a:p>
          <a:p>
            <a:pPr>
              <a:spcBef>
                <a:spcPts val="600"/>
              </a:spcBef>
              <a:defRPr sz="1400"/>
            </a:pPr>
            <a:r>
              <a:t>Learn about cognitive load and its impact on visualization design</a:t>
            </a:r>
          </a:p>
          <a:p>
            <a:pPr>
              <a:spcBef>
                <a:spcPts val="600"/>
              </a:spcBef>
              <a:defRPr sz="1400"/>
            </a:pPr>
            <a:r>
              <a:t>Master data types and their valid visual encodings</a:t>
            </a:r>
          </a:p>
          <a:p>
            <a:pPr>
              <a:spcBef>
                <a:spcPts val="600"/>
              </a:spcBef>
              <a:defRPr sz="1400"/>
            </a:pPr>
            <a:r>
              <a:t>Explore the Grammar of Graphics framework</a:t>
            </a:r>
          </a:p>
          <a:p>
            <a:pPr>
              <a:spcBef>
                <a:spcPts val="600"/>
              </a:spcBef>
              <a:defRPr sz="1400"/>
            </a:pPr>
            <a:r>
              <a:t>Implement visualizations using Python (Matplotlib, Seaborn)</a:t>
            </a:r>
          </a:p>
          <a:p>
            <a:pPr>
              <a:spcBef>
                <a:spcPts val="600"/>
              </a:spcBef>
              <a:defRPr sz="1400"/>
            </a:pPr>
            <a:r>
              <a:t>Apply perceptual principles to create effective visualizations</a:t>
            </a:r>
          </a:p>
          <a:p>
            <a:pPr>
              <a:spcBef>
                <a:spcPts val="600"/>
              </a:spcBef>
              <a:defRPr sz="1400"/>
            </a:pPr>
            <a:r>
              <a:t>Course Context: Building on Week 2's Python introduction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</a:defRPr>
            </a:pPr>
            <a:r>
              <a:t>Slide 2 – Why Visualization Matters in Data Science</a:t>
            </a:r>
          </a:p>
        </p:txBody>
      </p:sp>
      <p:pic>
        <p:nvPicPr>
          <p:cNvPr id="3" name="Picture 2" descr="data_decision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7315200" cy="25787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Slide 3 – Visualization as a Human–AI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400"/>
            </a:pPr>
            <a:r>
              <a:t>In modern analytics and AI systems:</a:t>
            </a:r>
          </a:p>
          <a:p>
            <a:pPr>
              <a:spcBef>
                <a:spcPts val="600"/>
              </a:spcBef>
              <a:defRPr sz="1400"/>
            </a:pPr>
            <a:r>
              <a:t>```</a:t>
            </a:r>
          </a:p>
          <a:p>
            <a:pPr>
              <a:spcBef>
                <a:spcPts val="600"/>
              </a:spcBef>
              <a:defRPr sz="1400"/>
            </a:pPr>
            <a:r>
              <a:t>┌─────────────┐       ┌──────────────┐       ┌─────────────┐</a:t>
            </a:r>
          </a:p>
          <a:p>
            <a:pPr>
              <a:spcBef>
                <a:spcPts val="600"/>
              </a:spcBef>
              <a:defRPr sz="1400"/>
            </a:pPr>
            <a:r>
              <a:t>│   Raw Data  │  →    │  AI Model    │  →    │Visualization│  →  Human Decision</a:t>
            </a:r>
          </a:p>
          <a:p>
            <a:pPr>
              <a:spcBef>
                <a:spcPts val="600"/>
              </a:spcBef>
              <a:defRPr sz="1400"/>
            </a:pPr>
            <a:r>
              <a:t>│             │       │  (Compute)   │       │  (Interface)│</a:t>
            </a:r>
          </a:p>
          <a:p>
            <a:pPr>
              <a:spcBef>
                <a:spcPts val="600"/>
              </a:spcBef>
              <a:defRPr sz="1400"/>
            </a:pPr>
            <a:r>
              <a:t>└─────────────┘       └──────────────┘       └─────────────┘</a:t>
            </a:r>
          </a:p>
          <a:p>
            <a:pPr>
              <a:spcBef>
                <a:spcPts val="600"/>
              </a:spcBef>
              <a:defRPr sz="1400"/>
            </a:pPr>
            <a:r>
              <a:t>```</a:t>
            </a:r>
          </a:p>
          <a:p>
            <a:pPr>
              <a:spcBef>
                <a:spcPts val="600"/>
              </a:spcBef>
              <a:defRPr sz="1400"/>
            </a:pPr>
            <a:r>
              <a:t>Models compute predictions</a:t>
            </a:r>
          </a:p>
          <a:p>
            <a:pPr>
              <a:spcBef>
                <a:spcPts val="600"/>
              </a:spcBef>
              <a:defRPr sz="1400"/>
            </a:pPr>
            <a:r>
              <a:t>Humans make decisions</a:t>
            </a:r>
          </a:p>
          <a:p>
            <a:pPr>
              <a:spcBef>
                <a:spcPts val="600"/>
              </a:spcBef>
              <a:defRPr sz="1400"/>
            </a:pPr>
            <a:r>
              <a:t>Visualization is the critical translation layer</a:t>
            </a:r>
          </a:p>
          <a:p>
            <a:pPr>
              <a:spcBef>
                <a:spcPts val="600"/>
              </a:spcBef>
              <a:defRPr sz="1400"/>
            </a:pPr>
            <a:r>
              <a:t>Human perceptual limits become system constraints</a:t>
            </a:r>
          </a:p>
          <a:p>
            <a:pPr>
              <a:spcBef>
                <a:spcPts val="600"/>
              </a:spcBef>
              <a:defRPr sz="1400"/>
            </a:pPr>
            <a:r>
              <a:t>Key Insight: If the visualization fails, the entire system fails at the decision layer.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</a:defRPr>
            </a:pPr>
            <a:r>
              <a:t>Slide 4 – The Two Pathways of Visual Processing</a:t>
            </a:r>
          </a:p>
        </p:txBody>
      </p:sp>
      <p:pic>
        <p:nvPicPr>
          <p:cNvPr id="3" name="Picture 2" descr="visual_processing_pathway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7315200" cy="485630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</a:defRPr>
            </a:pPr>
            <a:r>
              <a:t>Slide 5 – Preattentive Processing: The 200ms Window</a:t>
            </a:r>
          </a:p>
        </p:txBody>
      </p:sp>
      <p:pic>
        <p:nvPicPr>
          <p:cNvPr id="3" name="Picture 2" descr="preattentive_pop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7315200" cy="760780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</a:defRPr>
            </a:pPr>
            <a:r>
              <a:t>Slide 6 – Demonstrating Preattentive Processing</a:t>
            </a:r>
          </a:p>
        </p:txBody>
      </p:sp>
      <p:pic>
        <p:nvPicPr>
          <p:cNvPr id="3" name="Picture 2" descr="preattentiv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7315200" cy="262243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</a:defRPr>
            </a:pPr>
            <a:r>
              <a:t>Slide 7 – Visual Attention is Limited</a:t>
            </a:r>
          </a:p>
        </p:txBody>
      </p:sp>
      <p:pic>
        <p:nvPicPr>
          <p:cNvPr id="3" name="Picture 2" descr="selective_atten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7315200" cy="583738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</a:defRPr>
            </a:pPr>
            <a:r>
              <a:t>Slide 8 – Change Blindness</a:t>
            </a:r>
          </a:p>
        </p:txBody>
      </p:sp>
      <p:pic>
        <p:nvPicPr>
          <p:cNvPr id="3" name="Picture 2" descr="change_blind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7315200" cy="314261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</a:defRPr>
            </a:pPr>
            <a:r>
              <a:t>Slide 9 – Inattentional Blindness: The Invisible Gorilla</a:t>
            </a:r>
          </a:p>
        </p:txBody>
      </p:sp>
      <p:pic>
        <p:nvPicPr>
          <p:cNvPr id="3" name="Picture 2" descr="inattentional_blind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7315200" cy="583738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</a:defRPr>
            </a:pPr>
            <a:r>
              <a:t>Slide 10 – Gestalt Principles: How We Group Information</a:t>
            </a:r>
          </a:p>
        </p:txBody>
      </p:sp>
      <p:pic>
        <p:nvPicPr>
          <p:cNvPr id="3" name="Picture 2" descr="gestalt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7315200" cy="518203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</a:defRPr>
            </a:pPr>
            <a:r>
              <a:t>Slide 11 – Gestalt Principle: Proximity</a:t>
            </a:r>
          </a:p>
        </p:txBody>
      </p:sp>
      <p:pic>
        <p:nvPicPr>
          <p:cNvPr id="3" name="Picture 2" descr="gestalt_proxim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7315200" cy="246795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</a:defRPr>
            </a:pPr>
            <a:r>
              <a:t>Slide 12 – Gestalt Principle: Similarity</a:t>
            </a:r>
          </a:p>
        </p:txBody>
      </p:sp>
      <p:pic>
        <p:nvPicPr>
          <p:cNvPr id="3" name="Picture 2" descr="gestalt_simila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7315200" cy="246795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</a:defRPr>
            </a:pPr>
            <a:r>
              <a:t>Slide 13 – Gestalt Principle: Enclosure &amp; Common Region</a:t>
            </a:r>
          </a:p>
        </p:txBody>
      </p:sp>
      <p:pic>
        <p:nvPicPr>
          <p:cNvPr id="3" name="Picture 2" descr="gestalt_enclos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7315200" cy="318223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</a:defRPr>
            </a:pPr>
            <a:r>
              <a:t>Slide 14 – Gestalt Principle: Connection</a:t>
            </a:r>
          </a:p>
        </p:txBody>
      </p:sp>
      <p:pic>
        <p:nvPicPr>
          <p:cNvPr id="3" name="Picture 2" descr="gestalt_conn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7315200" cy="318223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Slide 15 – Gestalt and Dashboard Design Mistakes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400"/>
            </a:pPr>
            <a:r>
              <a:t>Common failures when Gestalt principles are ignored:</a:t>
            </a:r>
          </a:p>
          <a:p>
            <a:pPr>
              <a:spcBef>
                <a:spcPts val="600"/>
              </a:spcBef>
              <a:defRPr sz="1400"/>
            </a:pPr>
            <a:r>
              <a:t>[X] Random layout: Elements scattered without visual hierarchy</a:t>
            </a:r>
          </a:p>
          <a:p>
            <a:pPr>
              <a:spcBef>
                <a:spcPts val="600"/>
              </a:spcBef>
              <a:defRPr sz="1400"/>
            </a:pPr>
            <a:r>
              <a:t>[X] Inconsistent spacing: Creates accidental groups</a:t>
            </a:r>
          </a:p>
          <a:p>
            <a:pPr>
              <a:spcBef>
                <a:spcPts val="600"/>
              </a:spcBef>
              <a:defRPr sz="1400"/>
            </a:pPr>
            <a:r>
              <a:t>[X] Color chaos: Similar colors used for unrelated data</a:t>
            </a:r>
          </a:p>
          <a:p>
            <a:pPr>
              <a:spcBef>
                <a:spcPts val="600"/>
              </a:spcBef>
              <a:defRPr sz="1400"/>
            </a:pPr>
            <a:r>
              <a:t>[X] Over-boxing: Everything has a border, nothing stands out</a:t>
            </a:r>
          </a:p>
          <a:p>
            <a:pPr>
              <a:spcBef>
                <a:spcPts val="600"/>
              </a:spcBef>
              <a:defRPr sz="1400"/>
            </a:pPr>
            <a:r>
              <a:t>[X] No whitespace: Cognitive overload</a:t>
            </a:r>
          </a:p>
          <a:p>
            <a:pPr>
              <a:spcBef>
                <a:spcPts val="600"/>
              </a:spcBef>
              <a:defRPr sz="1400"/>
            </a:pPr>
            <a:r>
              <a:t>[OK] Good dashboard design:</a:t>
            </a:r>
          </a:p>
          <a:p>
            <a:pPr>
              <a:spcBef>
                <a:spcPts val="600"/>
              </a:spcBef>
              <a:defRPr sz="1400"/>
            </a:pPr>
            <a:r>
              <a:t>Clear visual hierarchy through proximity and enclosure</a:t>
            </a:r>
          </a:p>
          <a:p>
            <a:pPr>
              <a:spcBef>
                <a:spcPts val="600"/>
              </a:spcBef>
              <a:defRPr sz="1400"/>
            </a:pPr>
            <a:r>
              <a:t>Consistent use of similarity within groups</a:t>
            </a:r>
          </a:p>
          <a:p>
            <a:pPr>
              <a:spcBef>
                <a:spcPts val="600"/>
              </a:spcBef>
              <a:defRPr sz="1400"/>
            </a:pPr>
            <a:r>
              <a:t>Strategic whitespace guides attention</a:t>
            </a:r>
          </a:p>
          <a:p>
            <a:pPr>
              <a:spcBef>
                <a:spcPts val="600"/>
              </a:spcBef>
              <a:defRPr sz="1400"/>
            </a:pPr>
            <a:r>
              <a:t>Visual grouping matches logical relationships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</a:defRPr>
            </a:pPr>
            <a:r>
              <a:t>Slide 16 – Introduction to Cognitive Load Theory</a:t>
            </a:r>
          </a:p>
        </p:txBody>
      </p:sp>
      <p:pic>
        <p:nvPicPr>
          <p:cNvPr id="3" name="Picture 2" descr="cognitive_load_bal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7315200" cy="435956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Slide 17 – Intrinsic Load: Inherent Complexity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400"/>
            </a:pPr>
            <a:r>
              <a:t>Intrinsic load comes from:</a:t>
            </a:r>
          </a:p>
          <a:p>
            <a:pPr>
              <a:spcBef>
                <a:spcPts val="600"/>
              </a:spcBef>
              <a:defRPr sz="1400"/>
            </a:pPr>
            <a:r>
              <a:t>Data complexity (volume, dimensionality)</a:t>
            </a:r>
          </a:p>
          <a:p>
            <a:pPr>
              <a:spcBef>
                <a:spcPts val="600"/>
              </a:spcBef>
              <a:defRPr sz="1400"/>
            </a:pPr>
            <a:r>
              <a:t>Task complexity (comparison, correlation, prediction)</a:t>
            </a:r>
          </a:p>
          <a:p>
            <a:pPr>
              <a:spcBef>
                <a:spcPts val="600"/>
              </a:spcBef>
              <a:defRPr sz="1400"/>
            </a:pPr>
            <a:r>
              <a:t>Domain complexity (specialized knowledge required)</a:t>
            </a:r>
          </a:p>
          <a:p>
            <a:pPr>
              <a:spcBef>
                <a:spcPts val="600"/>
              </a:spcBef>
              <a:defRPr sz="1400"/>
            </a:pPr>
            <a:r>
              <a:t>You cannot eliminate intrinsic load, but you can manage it:</a:t>
            </a:r>
          </a:p>
          <a:p>
            <a:pPr>
              <a:spcBef>
                <a:spcPts val="600"/>
              </a:spcBef>
              <a:defRPr sz="1400"/>
            </a:pPr>
            <a:r>
              <a:t>[OK] Staging: Break complex tasks into steps</a:t>
            </a:r>
          </a:p>
          <a:p>
            <a:pPr>
              <a:spcBef>
                <a:spcPts val="600"/>
              </a:spcBef>
              <a:defRPr sz="1400"/>
            </a:pPr>
            <a:r>
              <a:t>[OK] Scaffolding: Provide context and guides</a:t>
            </a:r>
          </a:p>
          <a:p>
            <a:pPr>
              <a:spcBef>
                <a:spcPts val="600"/>
              </a:spcBef>
              <a:defRPr sz="1400"/>
            </a:pPr>
            <a:r>
              <a:t>[OK] Progressive disclosure: Show detail on demand</a:t>
            </a:r>
          </a:p>
          <a:p>
            <a:pPr>
              <a:spcBef>
                <a:spcPts val="600"/>
              </a:spcBef>
              <a:defRPr sz="1400"/>
            </a:pPr>
            <a:r>
              <a:t>[OK] Hierarchy: Present overview first, details later</a:t>
            </a:r>
          </a:p>
          <a:p>
            <a:pPr>
              <a:spcBef>
                <a:spcPts val="600"/>
              </a:spcBef>
              <a:defRPr sz="1400"/>
            </a:pPr>
            <a:r>
              <a:t>Example:</a:t>
            </a:r>
          </a:p>
          <a:p>
            <a:pPr>
              <a:spcBef>
                <a:spcPts val="600"/>
              </a:spcBef>
              <a:defRPr sz="1400"/>
            </a:pPr>
            <a:r>
              <a:t>[X] Showing 50 variables at once → overwhelming</a:t>
            </a:r>
          </a:p>
          <a:p>
            <a:pPr>
              <a:spcBef>
                <a:spcPts val="600"/>
              </a:spcBef>
              <a:defRPr sz="1400"/>
            </a:pPr>
            <a:r>
              <a:t>[OK] Showing top 10, with option to explore more → manageable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Slide 18 – Extraneous Load: Unnecessary Complexity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400"/>
            </a:pPr>
            <a:r>
              <a:t>Extraneous load comes from poor design choices:</a:t>
            </a:r>
          </a:p>
          <a:p>
            <a:pPr>
              <a:spcBef>
                <a:spcPts val="600"/>
              </a:spcBef>
              <a:defRPr sz="1400"/>
            </a:pPr>
            <a:r>
              <a:t>[X] Chart junk (decorative elements)</a:t>
            </a:r>
          </a:p>
          <a:p>
            <a:pPr>
              <a:spcBef>
                <a:spcPts val="600"/>
              </a:spcBef>
              <a:defRPr sz="1400"/>
            </a:pPr>
            <a:r>
              <a:t>[X] 3D effects with no purpose</a:t>
            </a:r>
          </a:p>
          <a:p>
            <a:pPr>
              <a:spcBef>
                <a:spcPts val="600"/>
              </a:spcBef>
              <a:defRPr sz="1400"/>
            </a:pPr>
            <a:r>
              <a:t>[X] Cluttered layouts</a:t>
            </a:r>
          </a:p>
          <a:p>
            <a:pPr>
              <a:spcBef>
                <a:spcPts val="600"/>
              </a:spcBef>
              <a:defRPr sz="1400"/>
            </a:pPr>
            <a:r>
              <a:t>[X] Inconsistent encodings</a:t>
            </a:r>
          </a:p>
          <a:p>
            <a:pPr>
              <a:spcBef>
                <a:spcPts val="600"/>
              </a:spcBef>
              <a:defRPr sz="1400"/>
            </a:pPr>
            <a:r>
              <a:t>[X] Poor color choices</a:t>
            </a:r>
          </a:p>
          <a:p>
            <a:pPr>
              <a:spcBef>
                <a:spcPts val="600"/>
              </a:spcBef>
              <a:defRPr sz="1400"/>
            </a:pPr>
            <a:r>
              <a:t>[X] Missing labels or legends</a:t>
            </a:r>
          </a:p>
          <a:p>
            <a:pPr>
              <a:spcBef>
                <a:spcPts val="600"/>
              </a:spcBef>
              <a:defRPr sz="1400"/>
            </a:pPr>
            <a:r>
              <a:t>[X] Excessive animation</a:t>
            </a:r>
          </a:p>
          <a:p>
            <a:pPr>
              <a:spcBef>
                <a:spcPts val="600"/>
              </a:spcBef>
              <a:defRPr sz="1400"/>
            </a:pPr>
            <a:r>
              <a:t>These add NO value but consume cognitive resources</a:t>
            </a:r>
          </a:p>
          <a:p>
            <a:pPr>
              <a:spcBef>
                <a:spcPts val="600"/>
              </a:spcBef>
              <a:defRPr sz="1400"/>
            </a:pPr>
            <a:r>
              <a:t>The solution: Ruthlessly eliminate extraneous load</a:t>
            </a:r>
          </a:p>
          <a:p>
            <a:pPr>
              <a:spcBef>
                <a:spcPts val="600"/>
              </a:spcBef>
              <a:defRPr sz="1400"/>
            </a:pPr>
            <a:r>
              <a:t>&gt; "Perfection is achieved not when there is nothing more to add, but when there is nothing left to take away." — Antoine de Saint-Exupéry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Slide 19 – Germane Load: Productive Mental Effort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400"/>
            </a:pPr>
            <a:r>
              <a:t>Germane load supports:</a:t>
            </a:r>
          </a:p>
          <a:p>
            <a:pPr>
              <a:spcBef>
                <a:spcPts val="600"/>
              </a:spcBef>
              <a:defRPr sz="1400"/>
            </a:pPr>
            <a:r>
              <a:t>Understanding patterns</a:t>
            </a:r>
          </a:p>
          <a:p>
            <a:pPr>
              <a:spcBef>
                <a:spcPts val="600"/>
              </a:spcBef>
              <a:defRPr sz="1400"/>
            </a:pPr>
            <a:r>
              <a:t>Making comparisons</a:t>
            </a:r>
          </a:p>
          <a:p>
            <a:pPr>
              <a:spcBef>
                <a:spcPts val="600"/>
              </a:spcBef>
              <a:defRPr sz="1400"/>
            </a:pPr>
            <a:r>
              <a:t>Drawing insights</a:t>
            </a:r>
          </a:p>
          <a:p>
            <a:pPr>
              <a:spcBef>
                <a:spcPts val="600"/>
              </a:spcBef>
              <a:defRPr sz="1400"/>
            </a:pPr>
            <a:r>
              <a:t>Building mental models</a:t>
            </a:r>
          </a:p>
          <a:p>
            <a:pPr>
              <a:spcBef>
                <a:spcPts val="600"/>
              </a:spcBef>
              <a:defRPr sz="1400"/>
            </a:pPr>
            <a:r>
              <a:t>Learning relationships</a:t>
            </a:r>
          </a:p>
          <a:p>
            <a:pPr>
              <a:spcBef>
                <a:spcPts val="600"/>
              </a:spcBef>
              <a:defRPr sz="1400"/>
            </a:pPr>
            <a:r>
              <a:t>How to maximize germane load:</a:t>
            </a:r>
          </a:p>
          <a:p>
            <a:pPr>
              <a:spcBef>
                <a:spcPts val="600"/>
              </a:spcBef>
              <a:defRPr sz="1400"/>
            </a:pPr>
            <a:r>
              <a:t>[OK] Clear visual hierarchy guides thinking</a:t>
            </a:r>
          </a:p>
          <a:p>
            <a:pPr>
              <a:spcBef>
                <a:spcPts val="600"/>
              </a:spcBef>
              <a:defRPr sz="1400"/>
            </a:pPr>
            <a:r>
              <a:t>[OK] Comparisons are easy (aligned scales)</a:t>
            </a:r>
          </a:p>
          <a:p>
            <a:pPr>
              <a:spcBef>
                <a:spcPts val="600"/>
              </a:spcBef>
              <a:defRPr sz="1400"/>
            </a:pPr>
            <a:r>
              <a:t>[OK] Patterns pop out (preattentive features)</a:t>
            </a:r>
          </a:p>
          <a:p>
            <a:pPr>
              <a:spcBef>
                <a:spcPts val="600"/>
              </a:spcBef>
              <a:defRPr sz="1400"/>
            </a:pPr>
            <a:r>
              <a:t>[OK] Context is provided (annotations, benchmarks)</a:t>
            </a:r>
          </a:p>
          <a:p>
            <a:pPr>
              <a:spcBef>
                <a:spcPts val="600"/>
              </a:spcBef>
              <a:defRPr sz="1400"/>
            </a:pPr>
            <a:r>
              <a:t>[OK] User can explore (interactive elements)</a:t>
            </a:r>
          </a:p>
          <a:p>
            <a:pPr>
              <a:spcBef>
                <a:spcPts val="600"/>
              </a:spcBef>
              <a:defRPr sz="1400"/>
            </a:pPr>
            <a:r>
              <a:t>The goal: All cognitive effort goes toward insight, not decoding the chart.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Slide 20 – The Cognitive Load Balance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400"/>
            </a:pPr>
            <a:r>
              <a:t>Visualization design as optimization:</a:t>
            </a:r>
          </a:p>
          <a:p>
            <a:pPr>
              <a:spcBef>
                <a:spcPts val="600"/>
              </a:spcBef>
              <a:defRPr sz="1400"/>
            </a:pPr>
            <a:r>
              <a:t>```</a:t>
            </a:r>
          </a:p>
          <a:p>
            <a:pPr>
              <a:spcBef>
                <a:spcPts val="600"/>
              </a:spcBef>
              <a:defRPr sz="1400"/>
            </a:pPr>
            <a:r>
              <a:t>Total Cognitive Capacity (Fixed)</a:t>
            </a:r>
          </a:p>
          <a:p>
            <a:pPr>
              <a:spcBef>
                <a:spcPts val="600"/>
              </a:spcBef>
              <a:defRPr sz="1400"/>
            </a:pPr>
            <a:r>
              <a:t>┌────────────────────────────────────┐</a:t>
            </a:r>
          </a:p>
          <a:p>
            <a:pPr>
              <a:spcBef>
                <a:spcPts val="600"/>
              </a:spcBef>
              <a:defRPr sz="1400"/>
            </a:pPr>
            <a:r>
              <a:t>│ Intrinsic Load (Necessary)         │</a:t>
            </a:r>
          </a:p>
          <a:p>
            <a:pPr>
              <a:spcBef>
                <a:spcPts val="600"/>
              </a:spcBef>
              <a:defRPr sz="1400"/>
            </a:pPr>
            <a:r>
              <a:t>├────────────────────────────────────┤</a:t>
            </a:r>
          </a:p>
          <a:p>
            <a:pPr>
              <a:spcBef>
                <a:spcPts val="600"/>
              </a:spcBef>
              <a:defRPr sz="1400"/>
            </a:pPr>
            <a:r>
              <a:t>│ Extraneous Load (MINIMIZE THIS!)   │ ← Bad design</a:t>
            </a:r>
          </a:p>
          <a:p>
            <a:pPr>
              <a:spcBef>
                <a:spcPts val="600"/>
              </a:spcBef>
              <a:defRPr sz="1400"/>
            </a:pPr>
            <a:r>
              <a:t>├────────────────────────────────────┤</a:t>
            </a:r>
          </a:p>
          <a:p>
            <a:pPr>
              <a:spcBef>
                <a:spcPts val="600"/>
              </a:spcBef>
              <a:defRPr sz="1400"/>
            </a:pPr>
            <a:r>
              <a:t>│ Germane Load (MAXIMIZE THIS!)      │ ← Insight generation</a:t>
            </a:r>
          </a:p>
          <a:p>
            <a:pPr>
              <a:spcBef>
                <a:spcPts val="600"/>
              </a:spcBef>
              <a:defRPr sz="1400"/>
            </a:pPr>
            <a:r>
              <a:t>└────────────────────────────────────┘</a:t>
            </a:r>
          </a:p>
          <a:p>
            <a:pPr>
              <a:spcBef>
                <a:spcPts val="600"/>
              </a:spcBef>
              <a:defRPr sz="1400"/>
            </a:pPr>
            <a:r>
              <a:t>```</a:t>
            </a:r>
          </a:p>
          <a:p>
            <a:pPr>
              <a:spcBef>
                <a:spcPts val="600"/>
              </a:spcBef>
              <a:defRPr sz="1400"/>
            </a:pPr>
            <a:r>
              <a:t>Design principle:</a:t>
            </a:r>
          </a:p>
          <a:p>
            <a:pPr>
              <a:spcBef>
                <a:spcPts val="600"/>
              </a:spcBef>
              <a:defRPr sz="1400"/>
            </a:pPr>
            <a:r>
              <a:t>Every design choice should either reduce extraneous load or increase germane load</a:t>
            </a:r>
          </a:p>
          <a:p>
            <a:pPr>
              <a:spcBef>
                <a:spcPts val="600"/>
              </a:spcBef>
              <a:defRPr sz="1400"/>
            </a:pPr>
            <a:r>
              <a:t>If it does neither, remove it</a:t>
            </a:r>
          </a:p>
          <a:p>
            <a:pPr>
              <a:spcBef>
                <a:spcPts val="600"/>
              </a:spcBef>
              <a:defRPr sz="1400"/>
            </a:pPr>
            <a:r>
              <a:t>Real-world impact: Reducing cognitive load = faster decisions = better outcomes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Slide 21 – Cognitive Load in Dashboard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400"/>
            </a:pPr>
            <a:r>
              <a:t>Scenario: Executive dashboard with 20 KPIs</a:t>
            </a:r>
          </a:p>
          <a:p>
            <a:pPr>
              <a:spcBef>
                <a:spcPts val="600"/>
              </a:spcBef>
              <a:defRPr sz="1400"/>
            </a:pPr>
            <a:r>
              <a:t>[X] High Extraneous Load Approach:</a:t>
            </a:r>
          </a:p>
          <a:p>
            <a:pPr>
              <a:spcBef>
                <a:spcPts val="600"/>
              </a:spcBef>
              <a:defRPr sz="1400"/>
            </a:pPr>
            <a:r>
              <a:t>All metrics same size and color</a:t>
            </a:r>
          </a:p>
          <a:p>
            <a:pPr>
              <a:spcBef>
                <a:spcPts val="600"/>
              </a:spcBef>
              <a:defRPr sz="1400"/>
            </a:pPr>
            <a:r>
              <a:t>No hierarchy</a:t>
            </a:r>
          </a:p>
          <a:p>
            <a:pPr>
              <a:spcBef>
                <a:spcPts val="600"/>
              </a:spcBef>
              <a:defRPr sz="1400"/>
            </a:pPr>
            <a:r>
              <a:t>3D pie charts and gratuitous gradients</a:t>
            </a:r>
          </a:p>
          <a:p>
            <a:pPr>
              <a:spcBef>
                <a:spcPts val="600"/>
              </a:spcBef>
              <a:defRPr sz="1400"/>
            </a:pPr>
            <a:r>
              <a:t>Cluttered legends</a:t>
            </a:r>
          </a:p>
          <a:p>
            <a:pPr>
              <a:spcBef>
                <a:spcPts val="600"/>
              </a:spcBef>
              <a:defRPr sz="1400"/>
            </a:pPr>
            <a:r>
              <a:t>Inconsistent time periods</a:t>
            </a:r>
          </a:p>
          <a:p>
            <a:pPr>
              <a:spcBef>
                <a:spcPts val="600"/>
              </a:spcBef>
              <a:defRPr sz="1400"/>
            </a:pPr>
            <a:r>
              <a:t>[OK] Low Extraneous Load Approach:</a:t>
            </a:r>
          </a:p>
          <a:p>
            <a:pPr>
              <a:spcBef>
                <a:spcPts val="600"/>
              </a:spcBef>
              <a:defRPr sz="1400"/>
            </a:pPr>
            <a:r>
              <a:t>Top 3-5 metrics prominently displayed</a:t>
            </a:r>
          </a:p>
          <a:p>
            <a:pPr>
              <a:spcBef>
                <a:spcPts val="600"/>
              </a:spcBef>
              <a:defRPr sz="1400"/>
            </a:pPr>
            <a:r>
              <a:t>Clear visual hierarchy</a:t>
            </a:r>
          </a:p>
          <a:p>
            <a:pPr>
              <a:spcBef>
                <a:spcPts val="600"/>
              </a:spcBef>
              <a:defRPr sz="1400"/>
            </a:pPr>
            <a:r>
              <a:t>Simple, clean charts</a:t>
            </a:r>
          </a:p>
          <a:p>
            <a:pPr>
              <a:spcBef>
                <a:spcPts val="600"/>
              </a:spcBef>
              <a:defRPr sz="1400"/>
            </a:pPr>
            <a:r>
              <a:t>Direct labeling (no legend hunting)</a:t>
            </a:r>
          </a:p>
          <a:p>
            <a:pPr>
              <a:spcBef>
                <a:spcPts val="600"/>
              </a:spcBef>
              <a:defRPr sz="1400"/>
            </a:pPr>
            <a:r>
              <a:t>Consistent time periods and scales</a:t>
            </a:r>
          </a:p>
          <a:p>
            <a:pPr>
              <a:spcBef>
                <a:spcPts val="600"/>
              </a:spcBef>
              <a:defRPr sz="1400"/>
            </a:pPr>
            <a:r>
              <a:t>Result: Same data, drastically different cognitive load and decision quality.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Slide 22 – Exercise: Cognitive Load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400"/>
            </a:pPr>
            <a:r>
              <a:t>Look at two versions of the same dashboard (provided)</a:t>
            </a:r>
          </a:p>
          <a:p>
            <a:pPr>
              <a:spcBef>
                <a:spcPts val="600"/>
              </a:spcBef>
              <a:defRPr sz="1400"/>
            </a:pPr>
            <a:r>
              <a:t>For each, identify:</a:t>
            </a:r>
          </a:p>
          <a:p>
            <a:pPr>
              <a:spcBef>
                <a:spcPts val="600"/>
              </a:spcBef>
              <a:defRPr sz="1400"/>
            </a:pPr>
            <a:r>
              <a:t>1. Sources of extraneous load (what can be removed?)</a:t>
            </a:r>
          </a:p>
          <a:p>
            <a:pPr>
              <a:spcBef>
                <a:spcPts val="600"/>
              </a:spcBef>
              <a:defRPr sz="1400"/>
            </a:pPr>
            <a:r>
              <a:t>2. Ways to reduce intrinsic load (how to simplify?)</a:t>
            </a:r>
          </a:p>
          <a:p>
            <a:pPr>
              <a:spcBef>
                <a:spcPts val="600"/>
              </a:spcBef>
              <a:defRPr sz="1400"/>
            </a:pPr>
            <a:r>
              <a:t>3. Opportunities for germane load (what supports insight?)</a:t>
            </a:r>
          </a:p>
          <a:p>
            <a:pPr>
              <a:spcBef>
                <a:spcPts val="600"/>
              </a:spcBef>
              <a:defRPr sz="1400"/>
            </a:pPr>
            <a:r>
              <a:t>Discussion: How would redesigning reduce decision time and errors?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Slide 23 – Data Types: The Foundation of Encoding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400"/>
            </a:pPr>
            <a:r>
              <a:t>Understanding data types is critical because:</a:t>
            </a:r>
          </a:p>
          <a:p>
            <a:pPr>
              <a:spcBef>
                <a:spcPts val="600"/>
              </a:spcBef>
              <a:defRPr sz="1400"/>
            </a:pPr>
            <a:r>
              <a:t>Data type determines valid encodings</a:t>
            </a:r>
          </a:p>
          <a:p>
            <a:pPr>
              <a:spcBef>
                <a:spcPts val="600"/>
              </a:spcBef>
              <a:defRPr sz="1400"/>
            </a:pPr>
            <a:r>
              <a:t>Violating data type rules creates confusion</a:t>
            </a:r>
          </a:p>
          <a:p>
            <a:pPr>
              <a:spcBef>
                <a:spcPts val="600"/>
              </a:spcBef>
              <a:defRPr sz="1400"/>
            </a:pPr>
            <a:r>
              <a:t>Different data types support different tasks</a:t>
            </a:r>
          </a:p>
          <a:p>
            <a:pPr>
              <a:spcBef>
                <a:spcPts val="600"/>
              </a:spcBef>
              <a:defRPr sz="1400"/>
            </a:pPr>
            <a:r>
              <a:t>Four fundamental data types:</a:t>
            </a:r>
          </a:p>
          <a:p>
            <a:pPr>
              <a:spcBef>
                <a:spcPts val="600"/>
              </a:spcBef>
              <a:defRPr sz="1400"/>
            </a:pPr>
            <a:r>
              <a:t>1. Nominal (Categorical)</a:t>
            </a:r>
          </a:p>
          <a:p>
            <a:pPr>
              <a:spcBef>
                <a:spcPts val="600"/>
              </a:spcBef>
              <a:defRPr sz="1400"/>
            </a:pPr>
            <a:r>
              <a:t>2. Ordinal (Ordered categories)</a:t>
            </a:r>
          </a:p>
          <a:p>
            <a:pPr>
              <a:spcBef>
                <a:spcPts val="600"/>
              </a:spcBef>
              <a:defRPr sz="1400"/>
            </a:pPr>
            <a:r>
              <a:t>3. Quantitative (Numerical)</a:t>
            </a:r>
          </a:p>
          <a:p>
            <a:pPr>
              <a:spcBef>
                <a:spcPts val="600"/>
              </a:spcBef>
              <a:defRPr sz="1400"/>
            </a:pPr>
            <a:r>
              <a:t>4. Temporal (Time-based)</a:t>
            </a:r>
          </a:p>
          <a:p>
            <a:pPr>
              <a:spcBef>
                <a:spcPts val="600"/>
              </a:spcBef>
              <a:defRPr sz="1400"/>
            </a:pPr>
            <a:r>
              <a:t>Rule: Data type restricts which visual encodings are appropriate.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Slide 24 – Nominal (Categorical)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400"/>
            </a:pPr>
            <a:r>
              <a:t>Characteristics:</a:t>
            </a:r>
          </a:p>
          <a:p>
            <a:pPr>
              <a:spcBef>
                <a:spcPts val="600"/>
              </a:spcBef>
              <a:defRPr sz="1400"/>
            </a:pPr>
            <a:r>
              <a:t>Discrete categories</a:t>
            </a:r>
          </a:p>
          <a:p>
            <a:pPr>
              <a:spcBef>
                <a:spcPts val="600"/>
              </a:spcBef>
              <a:defRPr sz="1400"/>
            </a:pPr>
            <a:r>
              <a:t>No inherent order</a:t>
            </a:r>
          </a:p>
          <a:p>
            <a:pPr>
              <a:spcBef>
                <a:spcPts val="600"/>
              </a:spcBef>
              <a:defRPr sz="1400"/>
            </a:pPr>
            <a:r>
              <a:t>Identity and difference matter</a:t>
            </a:r>
          </a:p>
          <a:p>
            <a:pPr>
              <a:spcBef>
                <a:spcPts val="600"/>
              </a:spcBef>
              <a:defRPr sz="1400"/>
            </a:pPr>
            <a:r>
              <a:t>Examples:</a:t>
            </a:r>
          </a:p>
          <a:p>
            <a:pPr>
              <a:spcBef>
                <a:spcPts val="600"/>
              </a:spcBef>
              <a:defRPr sz="1400"/>
            </a:pPr>
            <a:r>
              <a:t>Product categories (Electronics, Clothing, Food)</a:t>
            </a:r>
          </a:p>
          <a:p>
            <a:pPr>
              <a:spcBef>
                <a:spcPts val="600"/>
              </a:spcBef>
              <a:defRPr sz="1400"/>
            </a:pPr>
            <a:r>
              <a:t>Geographic regions (North, South, East, West)</a:t>
            </a:r>
          </a:p>
          <a:p>
            <a:pPr>
              <a:spcBef>
                <a:spcPts val="600"/>
              </a:spcBef>
              <a:defRPr sz="1400"/>
            </a:pPr>
            <a:r>
              <a:t>Customer segments (A, B, C)</a:t>
            </a:r>
          </a:p>
          <a:p>
            <a:pPr>
              <a:spcBef>
                <a:spcPts val="600"/>
              </a:spcBef>
              <a:defRPr sz="1400"/>
            </a:pPr>
            <a:r>
              <a:t>Business units</a:t>
            </a:r>
          </a:p>
          <a:p>
            <a:pPr>
              <a:spcBef>
                <a:spcPts val="600"/>
              </a:spcBef>
              <a:defRPr sz="1400"/>
            </a:pPr>
            <a:r>
              <a:t>Valid encodings:</a:t>
            </a:r>
          </a:p>
          <a:p>
            <a:pPr>
              <a:spcBef>
                <a:spcPts val="600"/>
              </a:spcBef>
              <a:defRPr sz="1400"/>
            </a:pPr>
            <a:r>
              <a:t>[OK] Hue (color)</a:t>
            </a:r>
          </a:p>
          <a:p>
            <a:pPr>
              <a:spcBef>
                <a:spcPts val="600"/>
              </a:spcBef>
              <a:defRPr sz="1400"/>
            </a:pPr>
            <a:r>
              <a:t>[OK] Shape</a:t>
            </a:r>
          </a:p>
          <a:p>
            <a:pPr>
              <a:spcBef>
                <a:spcPts val="600"/>
              </a:spcBef>
              <a:defRPr sz="1400"/>
            </a:pPr>
            <a:r>
              <a:t>[OK] Position (grouped)</a:t>
            </a:r>
          </a:p>
          <a:p>
            <a:pPr>
              <a:spcBef>
                <a:spcPts val="600"/>
              </a:spcBef>
              <a:defRPr sz="1400"/>
            </a:pPr>
            <a:r>
              <a:t>[X] NOT size, intensity, or ordering</a:t>
            </a:r>
          </a:p>
          <a:p>
            <a:pPr>
              <a:spcBef>
                <a:spcPts val="600"/>
              </a:spcBef>
              <a:defRPr sz="1400"/>
            </a:pPr>
            <a:r>
              <a:t>Common mistake: Using a gradient color scale for categories (e.g., red→yellow→green for product types)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</a:defRPr>
            </a:pPr>
            <a:r>
              <a:t>Slide 25 – Ordinal Data</a:t>
            </a:r>
          </a:p>
        </p:txBody>
      </p:sp>
      <p:pic>
        <p:nvPicPr>
          <p:cNvPr id="3" name="Picture 2" descr="ordinal_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7315200" cy="4353581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</a:defRPr>
            </a:pPr>
            <a:r>
              <a:t>Slide 26 – Quantitative Data</a:t>
            </a:r>
          </a:p>
        </p:txBody>
      </p:sp>
      <p:pic>
        <p:nvPicPr>
          <p:cNvPr id="3" name="Picture 2" descr="quantitative_encod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7315200" cy="6052262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</a:defRPr>
            </a:pPr>
            <a:r>
              <a:t>Slide 27 – Temporal (Time-Series) Data</a:t>
            </a:r>
          </a:p>
        </p:txBody>
      </p:sp>
      <p:pic>
        <p:nvPicPr>
          <p:cNvPr id="3" name="Picture 2" descr="time_se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7315200" cy="3628897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</a:defRPr>
            </a:pPr>
            <a:r>
              <a:t>Slide 28 – Visual Variables (Bertin, 1967)</a:t>
            </a:r>
          </a:p>
        </p:txBody>
      </p:sp>
      <p:pic>
        <p:nvPicPr>
          <p:cNvPr id="3" name="Picture 2" descr="bertin_variab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7315200" cy="608575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</a:defRPr>
            </a:pPr>
            <a:r>
              <a:t>Slide 29 – Graphical Perception Research (Cleveland &amp; McGill)</a:t>
            </a:r>
          </a:p>
        </p:txBody>
      </p:sp>
      <p:pic>
        <p:nvPicPr>
          <p:cNvPr id="3" name="Picture 2" descr="cleveland_mcgi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7315200" cy="265018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</a:defRPr>
            </a:pPr>
            <a:r>
              <a:t>Slide 30 – Ranking of Visual Encodings (Most→Least Effective)</a:t>
            </a:r>
          </a:p>
        </p:txBody>
      </p:sp>
      <p:pic>
        <p:nvPicPr>
          <p:cNvPr id="3" name="Picture 2" descr="encoding_effective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7315200" cy="5826527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</a:defRPr>
            </a:pPr>
            <a:r>
              <a:t>Slide 31 – Why Color Is Weak for Quantitative Data</a:t>
            </a:r>
          </a:p>
        </p:txBody>
      </p:sp>
      <p:pic>
        <p:nvPicPr>
          <p:cNvPr id="3" name="Picture 2" descr="color_percep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7315200" cy="6052969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Slide 32 – Data × Task × Encoding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400"/>
            </a:pPr>
            <a:r>
              <a:t>Effective visualization requires matching all three:</a:t>
            </a:r>
          </a:p>
          <a:p>
            <a:pPr>
              <a:spcBef>
                <a:spcPts val="600"/>
              </a:spcBef>
              <a:defRPr sz="1400"/>
            </a:pPr>
            <a:r>
              <a:t>```</a:t>
            </a:r>
          </a:p>
          <a:p>
            <a:pPr>
              <a:spcBef>
                <a:spcPts val="600"/>
              </a:spcBef>
              <a:defRPr sz="1400"/>
            </a:pPr>
            <a:r>
              <a:t>┌──────────┐     ┌──────────┐     ┌──────────┐</a:t>
            </a:r>
          </a:p>
          <a:p>
            <a:pPr>
              <a:spcBef>
                <a:spcPts val="600"/>
              </a:spcBef>
              <a:defRPr sz="1400"/>
            </a:pPr>
            <a:r>
              <a:t>│   Data   │  +  │   Task   │  =  │ Encoding │</a:t>
            </a:r>
          </a:p>
          <a:p>
            <a:pPr>
              <a:spcBef>
                <a:spcPts val="600"/>
              </a:spcBef>
              <a:defRPr sz="1400"/>
            </a:pPr>
            <a:r>
              <a:t>│   Type   │     │          │     │  Choice  │</a:t>
            </a:r>
          </a:p>
          <a:p>
            <a:pPr>
              <a:spcBef>
                <a:spcPts val="600"/>
              </a:spcBef>
              <a:defRPr sz="1400"/>
            </a:pPr>
            <a:r>
              <a:t>└──────────┘     └──────────┘     └──────────┘</a:t>
            </a:r>
          </a:p>
          <a:p>
            <a:pPr>
              <a:spcBef>
                <a:spcPts val="600"/>
              </a:spcBef>
              <a:defRPr sz="1400"/>
            </a:pPr>
            <a:r>
              <a:t>```</a:t>
            </a:r>
          </a:p>
          <a:p>
            <a:pPr>
              <a:spcBef>
                <a:spcPts val="600"/>
              </a:spcBef>
              <a:defRPr sz="1400"/>
            </a:pPr>
            <a:r>
              <a:t>Always ask:</a:t>
            </a:r>
          </a:p>
          <a:p>
            <a:pPr>
              <a:spcBef>
                <a:spcPts val="600"/>
              </a:spcBef>
              <a:defRPr sz="1400"/>
            </a:pPr>
            <a:r>
              <a:t>1. What is the data type? (Nominal, Ordinal, Quantitative, Temporal)</a:t>
            </a:r>
          </a:p>
          <a:p>
            <a:pPr>
              <a:spcBef>
                <a:spcPts val="600"/>
              </a:spcBef>
              <a:defRPr sz="1400"/>
            </a:pPr>
            <a:r>
              <a:t>2. What is the task? (Compare, Identify trend, Find outliers, etc.)</a:t>
            </a:r>
          </a:p>
          <a:p>
            <a:pPr>
              <a:spcBef>
                <a:spcPts val="600"/>
              </a:spcBef>
              <a:defRPr sz="1400"/>
            </a:pPr>
            <a:r>
              <a:t>3. Which encoding best supports this?</a:t>
            </a:r>
          </a:p>
          <a:p>
            <a:pPr>
              <a:spcBef>
                <a:spcPts val="600"/>
              </a:spcBef>
              <a:defRPr sz="1400"/>
            </a:pPr>
            <a:r>
              <a:t>Example:</a:t>
            </a:r>
          </a:p>
          <a:p>
            <a:pPr>
              <a:spcBef>
                <a:spcPts val="600"/>
              </a:spcBef>
              <a:defRPr sz="1400"/>
            </a:pPr>
            <a:r>
              <a:t>Data: Quarterly revenue (Quantitative + Temporal)</a:t>
            </a:r>
          </a:p>
          <a:p>
            <a:pPr>
              <a:spcBef>
                <a:spcPts val="600"/>
              </a:spcBef>
              <a:defRPr sz="1400"/>
            </a:pPr>
            <a:r>
              <a:t>Task: Show trend over time</a:t>
            </a:r>
          </a:p>
          <a:p>
            <a:pPr>
              <a:spcBef>
                <a:spcPts val="600"/>
              </a:spcBef>
              <a:defRPr sz="1400"/>
            </a:pPr>
            <a:r>
              <a:t>Encoding: Line chart with position on aligned scales [OK]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Slide 33 – Common Encoding Violations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400"/>
            </a:pPr>
            <a:r>
              <a:t>Mistakes that violate perception principles:</a:t>
            </a:r>
          </a:p>
          <a:p>
            <a:pPr>
              <a:spcBef>
                <a:spcPts val="600"/>
              </a:spcBef>
              <a:defRPr sz="1400"/>
            </a:pPr>
            <a:r>
              <a:t>[X] Pie charts with too many slices (angle is hard to compare)</a:t>
            </a:r>
          </a:p>
          <a:p>
            <a:pPr>
              <a:spcBef>
                <a:spcPts val="600"/>
              </a:spcBef>
              <a:defRPr sz="1400"/>
            </a:pPr>
            <a:r>
              <a:t>[X] 3D charts (perspective distorts perception)</a:t>
            </a:r>
          </a:p>
          <a:p>
            <a:pPr>
              <a:spcBef>
                <a:spcPts val="600"/>
              </a:spcBef>
              <a:defRPr sz="1400"/>
            </a:pPr>
            <a:r>
              <a:t>[X] Dual-axis charts (misleading scale comparison)</a:t>
            </a:r>
          </a:p>
          <a:p>
            <a:pPr>
              <a:spcBef>
                <a:spcPts val="600"/>
              </a:spcBef>
              <a:defRPr sz="1400"/>
            </a:pPr>
            <a:r>
              <a:t>[X] Rainbow color scales (non-perceptual, creates false boundaries)</a:t>
            </a:r>
          </a:p>
          <a:p>
            <a:pPr>
              <a:spcBef>
                <a:spcPts val="600"/>
              </a:spcBef>
              <a:defRPr sz="1400"/>
            </a:pPr>
            <a:r>
              <a:t>[X] Truncated y-axes (exaggerates differences)</a:t>
            </a:r>
          </a:p>
          <a:p>
            <a:pPr>
              <a:spcBef>
                <a:spcPts val="600"/>
              </a:spcBef>
              <a:defRPr sz="1400"/>
            </a:pPr>
            <a:r>
              <a:t>[X] Bubble charts for precise comparison (area is hard to judge)</a:t>
            </a:r>
          </a:p>
          <a:p>
            <a:pPr>
              <a:spcBef>
                <a:spcPts val="600"/>
              </a:spcBef>
              <a:defRPr sz="1400"/>
            </a:pPr>
            <a:r>
              <a:t>Each of these increases cognitive load and decreases accuracy.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Slide 34 – From Chart Types to Compositional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400"/>
            </a:pPr>
            <a:r>
              <a:t>Traditional approach:</a:t>
            </a:r>
          </a:p>
          <a:p>
            <a:pPr>
              <a:spcBef>
                <a:spcPts val="600"/>
              </a:spcBef>
              <a:defRPr sz="1400"/>
            </a:pPr>
            <a:r>
              <a:t>Think in fixed chart types (bar, line, pie, scatter)</a:t>
            </a:r>
          </a:p>
          <a:p>
            <a:pPr>
              <a:spcBef>
                <a:spcPts val="600"/>
              </a:spcBef>
              <a:defRPr sz="1400"/>
            </a:pPr>
            <a:r>
              <a:t>Pick a template</a:t>
            </a:r>
          </a:p>
          <a:p>
            <a:pPr>
              <a:spcBef>
                <a:spcPts val="600"/>
              </a:spcBef>
              <a:defRPr sz="1400"/>
            </a:pPr>
            <a:r>
              <a:t>Limited flexibility</a:t>
            </a:r>
          </a:p>
          <a:p>
            <a:pPr>
              <a:spcBef>
                <a:spcPts val="600"/>
              </a:spcBef>
              <a:defRPr sz="1400"/>
            </a:pPr>
            <a:r>
              <a:t>Modern approach:</a:t>
            </a:r>
          </a:p>
          <a:p>
            <a:pPr>
              <a:spcBef>
                <a:spcPts val="600"/>
              </a:spcBef>
              <a:defRPr sz="1400"/>
            </a:pPr>
            <a:r>
              <a:t>Think in composable elements</a:t>
            </a:r>
          </a:p>
          <a:p>
            <a:pPr>
              <a:spcBef>
                <a:spcPts val="600"/>
              </a:spcBef>
              <a:defRPr sz="1400"/>
            </a:pPr>
            <a:r>
              <a:t>Build visualizations from components</a:t>
            </a:r>
          </a:p>
          <a:p>
            <a:pPr>
              <a:spcBef>
                <a:spcPts val="600"/>
              </a:spcBef>
              <a:defRPr sz="1400"/>
            </a:pPr>
            <a:r>
              <a:t>Infinite combinations possible</a:t>
            </a:r>
          </a:p>
          <a:p>
            <a:pPr>
              <a:spcBef>
                <a:spcPts val="600"/>
              </a:spcBef>
              <a:defRPr sz="1400"/>
            </a:pPr>
            <a:r>
              <a:t>This is the shift from "choosing a chart" to "composing a visualization"</a:t>
            </a:r>
          </a:p>
          <a:p>
            <a:pPr>
              <a:spcBef>
                <a:spcPts val="600"/>
              </a:spcBef>
              <a:defRPr sz="1400"/>
            </a:pPr>
            <a:r>
              <a:t>Enter: Grammar of Graphics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</a:defRPr>
            </a:pPr>
            <a:r>
              <a:t>Slide 35 – Introduction to Grammar of Graphics</a:t>
            </a:r>
          </a:p>
        </p:txBody>
      </p:sp>
      <p:pic>
        <p:nvPicPr>
          <p:cNvPr id="3" name="Picture 2" descr="grammar_lay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7315200" cy="5837382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</a:defRPr>
            </a:pPr>
            <a:r>
              <a:t>Slide 36 – The Layered Grammar: Core Components</a:t>
            </a:r>
          </a:p>
        </p:txBody>
      </p:sp>
      <p:pic>
        <p:nvPicPr>
          <p:cNvPr id="3" name="Picture 2" descr="grammar_lay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7315200" cy="5837382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Slide 37 – Component 1: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400"/>
            </a:pPr>
            <a:r>
              <a:t>The foundation of any visualization</a:t>
            </a:r>
          </a:p>
          <a:p>
            <a:pPr>
              <a:spcBef>
                <a:spcPts val="600"/>
              </a:spcBef>
              <a:defRPr sz="1400"/>
            </a:pPr>
            <a:r>
              <a:t>Requirements:</a:t>
            </a:r>
          </a:p>
          <a:p>
            <a:pPr>
              <a:spcBef>
                <a:spcPts val="600"/>
              </a:spcBef>
              <a:defRPr sz="1400"/>
            </a:pPr>
            <a:r>
              <a:t>Structured format (typically tabular/dataframe)</a:t>
            </a:r>
          </a:p>
          <a:p>
            <a:pPr>
              <a:spcBef>
                <a:spcPts val="600"/>
              </a:spcBef>
              <a:defRPr sz="1400"/>
            </a:pPr>
            <a:r>
              <a:t>Each row = observation</a:t>
            </a:r>
          </a:p>
          <a:p>
            <a:pPr>
              <a:spcBef>
                <a:spcPts val="600"/>
              </a:spcBef>
              <a:defRPr sz="1400"/>
            </a:pPr>
            <a:r>
              <a:t>Each column = variable</a:t>
            </a:r>
          </a:p>
          <a:p>
            <a:pPr>
              <a:spcBef>
                <a:spcPts val="600"/>
              </a:spcBef>
              <a:defRPr sz="1400"/>
            </a:pPr>
            <a:r>
              <a:t>Can be raw or transformed</a:t>
            </a:r>
          </a:p>
          <a:p>
            <a:pPr>
              <a:spcBef>
                <a:spcPts val="600"/>
              </a:spcBef>
              <a:defRPr sz="1400"/>
            </a:pPr>
            <a:r>
              <a:t>Example data structure:</a:t>
            </a:r>
          </a:p>
          <a:p>
            <a:pPr>
              <a:spcBef>
                <a:spcPts val="600"/>
              </a:spcBef>
              <a:defRPr sz="1400"/>
            </a:pPr>
            <a:r>
              <a:t>```</a:t>
            </a:r>
          </a:p>
          <a:p>
            <a:pPr>
              <a:spcBef>
                <a:spcPts val="600"/>
              </a:spcBef>
              <a:defRPr sz="1400"/>
            </a:pPr>
            <a:r>
              <a:t>| Month | Product  | Sales | Region |</a:t>
            </a:r>
          </a:p>
          <a:p>
            <a:pPr>
              <a:spcBef>
                <a:spcPts val="600"/>
              </a:spcBef>
              <a:defRPr sz="1400"/>
            </a:pPr>
            <a:r>
              <a:t>|-------|----------|-------|--------|</a:t>
            </a:r>
          </a:p>
          <a:p>
            <a:pPr>
              <a:spcBef>
                <a:spcPts val="600"/>
              </a:spcBef>
              <a:defRPr sz="1400"/>
            </a:pPr>
            <a:r>
              <a:t>| Jan   | Widget A | 1500  | North  |</a:t>
            </a:r>
          </a:p>
          <a:p>
            <a:pPr>
              <a:spcBef>
                <a:spcPts val="600"/>
              </a:spcBef>
              <a:defRPr sz="1400"/>
            </a:pPr>
            <a:r>
              <a:t>| Jan   | Widget B | 2300  | North  |</a:t>
            </a:r>
          </a:p>
          <a:p>
            <a:pPr>
              <a:spcBef>
                <a:spcPts val="600"/>
              </a:spcBef>
              <a:defRPr sz="1400"/>
            </a:pPr>
            <a:r>
              <a:t>| Feb   | Widget A | 1800  | North  |</a:t>
            </a:r>
          </a:p>
          <a:p>
            <a:pPr>
              <a:spcBef>
                <a:spcPts val="600"/>
              </a:spcBef>
              <a:defRPr sz="1400"/>
            </a:pPr>
            <a:r>
              <a:t>...</a:t>
            </a:r>
          </a:p>
          <a:p>
            <a:pPr>
              <a:spcBef>
                <a:spcPts val="600"/>
              </a:spcBef>
              <a:defRPr sz="1400"/>
            </a:pPr>
            <a:r>
              <a:t>```</a:t>
            </a:r>
          </a:p>
          <a:p>
            <a:pPr>
              <a:spcBef>
                <a:spcPts val="600"/>
              </a:spcBef>
              <a:defRPr sz="1400"/>
            </a:pPr>
            <a:r>
              <a:t>Key insight: Same data + different mappings = different visualizations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Slide 38 – Component 2: Aesthetic Mappings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400"/>
            </a:pPr>
            <a:r>
              <a:t>Map data variables to visual properties</a:t>
            </a:r>
          </a:p>
          <a:p>
            <a:pPr>
              <a:spcBef>
                <a:spcPts val="600"/>
              </a:spcBef>
              <a:defRPr sz="1400"/>
            </a:pPr>
            <a:r>
              <a:t>Common aesthetics:</a:t>
            </a:r>
          </a:p>
          <a:p>
            <a:pPr>
              <a:spcBef>
                <a:spcPts val="600"/>
              </a:spcBef>
              <a:defRPr sz="1400"/>
            </a:pPr>
            <a:r>
              <a:t>x, y - Position</a:t>
            </a:r>
          </a:p>
          <a:p>
            <a:pPr>
              <a:spcBef>
                <a:spcPts val="600"/>
              </a:spcBef>
              <a:defRPr sz="1400"/>
            </a:pPr>
            <a:r>
              <a:t>color / fill - Color of points/areas</a:t>
            </a:r>
          </a:p>
          <a:p>
            <a:pPr>
              <a:spcBef>
                <a:spcPts val="600"/>
              </a:spcBef>
              <a:defRPr sz="1400"/>
            </a:pPr>
            <a:r>
              <a:t>size - Size of points/text</a:t>
            </a:r>
          </a:p>
          <a:p>
            <a:pPr>
              <a:spcBef>
                <a:spcPts val="600"/>
              </a:spcBef>
              <a:defRPr sz="1400"/>
            </a:pPr>
            <a:r>
              <a:t>shape - Shape of points</a:t>
            </a:r>
          </a:p>
          <a:p>
            <a:pPr>
              <a:spcBef>
                <a:spcPts val="600"/>
              </a:spcBef>
              <a:defRPr sz="1400"/>
            </a:pPr>
            <a:r>
              <a:t>alpha - Transparency</a:t>
            </a:r>
          </a:p>
          <a:p>
            <a:pPr>
              <a:spcBef>
                <a:spcPts val="600"/>
              </a:spcBef>
              <a:defRPr sz="1400"/>
            </a:pPr>
            <a:r>
              <a:t>linetype - Type of line (solid, dashed)</a:t>
            </a:r>
          </a:p>
          <a:p>
            <a:pPr>
              <a:spcBef>
                <a:spcPts val="600"/>
              </a:spcBef>
              <a:defRPr sz="1400"/>
            </a:pPr>
            <a:r>
              <a:t>Example:</a:t>
            </a:r>
          </a:p>
          <a:p>
            <a:pPr>
              <a:spcBef>
                <a:spcPts val="600"/>
              </a:spcBef>
              <a:defRPr sz="1400"/>
            </a:pPr>
            <a:r>
              <a:t>```</a:t>
            </a:r>
          </a:p>
          <a:p>
            <a:pPr>
              <a:spcBef>
                <a:spcPts val="600"/>
              </a:spcBef>
              <a:defRPr sz="1400"/>
            </a:pPr>
            <a:r>
              <a:t>aes(x = Month, y = Sales, color = Product, size = Region)</a:t>
            </a:r>
          </a:p>
          <a:p>
            <a:pPr>
              <a:spcBef>
                <a:spcPts val="600"/>
              </a:spcBef>
              <a:defRPr sz="1400"/>
            </a:pPr>
            <a:r>
              <a:t>```</a:t>
            </a:r>
          </a:p>
          <a:p>
            <a:pPr>
              <a:spcBef>
                <a:spcPts val="600"/>
              </a:spcBef>
              <a:defRPr sz="1400"/>
            </a:pPr>
            <a:r>
              <a:t>Critical: Aesthetics define what data is shown and how it maps to visual properties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Slide 39 – Component 3: Geometric Objects (Marks)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400"/>
            </a:pPr>
            <a:r>
              <a:t>The visual representation of data</a:t>
            </a:r>
          </a:p>
          <a:p>
            <a:pPr>
              <a:spcBef>
                <a:spcPts val="600"/>
              </a:spcBef>
              <a:defRPr sz="1400"/>
            </a:pPr>
            <a:r>
              <a:t>Common geoms:</a:t>
            </a:r>
          </a:p>
          <a:p>
            <a:pPr>
              <a:spcBef>
                <a:spcPts val="600"/>
              </a:spcBef>
              <a:defRPr sz="1400"/>
            </a:pPr>
            <a:r>
              <a:t>point - Scatter plot points</a:t>
            </a:r>
          </a:p>
          <a:p>
            <a:pPr>
              <a:spcBef>
                <a:spcPts val="600"/>
              </a:spcBef>
              <a:defRPr sz="1400"/>
            </a:pPr>
            <a:r>
              <a:t>line - Connected lines</a:t>
            </a:r>
          </a:p>
          <a:p>
            <a:pPr>
              <a:spcBef>
                <a:spcPts val="600"/>
              </a:spcBef>
              <a:defRPr sz="1400"/>
            </a:pPr>
            <a:r>
              <a:t>bar / col - Bars/columns</a:t>
            </a:r>
          </a:p>
          <a:p>
            <a:pPr>
              <a:spcBef>
                <a:spcPts val="600"/>
              </a:spcBef>
              <a:defRPr sz="1400"/>
            </a:pPr>
            <a:r>
              <a:t>boxplot - Box-and-whisker plots</a:t>
            </a:r>
          </a:p>
          <a:p>
            <a:pPr>
              <a:spcBef>
                <a:spcPts val="600"/>
              </a:spcBef>
              <a:defRPr sz="1400"/>
            </a:pPr>
            <a:r>
              <a:t>histogram - Frequency distributions</a:t>
            </a:r>
          </a:p>
          <a:p>
            <a:pPr>
              <a:spcBef>
                <a:spcPts val="600"/>
              </a:spcBef>
              <a:defRPr sz="1400"/>
            </a:pPr>
            <a:r>
              <a:t>area - Filled areas</a:t>
            </a:r>
          </a:p>
          <a:p>
            <a:pPr>
              <a:spcBef>
                <a:spcPts val="600"/>
              </a:spcBef>
              <a:defRPr sz="1400"/>
            </a:pPr>
            <a:r>
              <a:t>tile / raster - Heatmap cells</a:t>
            </a:r>
          </a:p>
          <a:p>
            <a:pPr>
              <a:spcBef>
                <a:spcPts val="600"/>
              </a:spcBef>
              <a:defRPr sz="1400"/>
            </a:pPr>
            <a:r>
              <a:t>text - Labels</a:t>
            </a:r>
          </a:p>
          <a:p>
            <a:pPr>
              <a:spcBef>
                <a:spcPts val="600"/>
              </a:spcBef>
              <a:defRPr sz="1400"/>
            </a:pPr>
            <a:r>
              <a:t>Same data + mapping, different geom = different chart:</a:t>
            </a:r>
          </a:p>
          <a:p>
            <a:pPr>
              <a:spcBef>
                <a:spcPts val="600"/>
              </a:spcBef>
              <a:defRPr sz="1400"/>
            </a:pPr>
            <a:r>
              <a:t>geom_point() → scatter plot</a:t>
            </a:r>
          </a:p>
          <a:p>
            <a:pPr>
              <a:spcBef>
                <a:spcPts val="600"/>
              </a:spcBef>
              <a:defRPr sz="1400"/>
            </a:pPr>
            <a:r>
              <a:t>geom_line() → line chart</a:t>
            </a:r>
          </a:p>
          <a:p>
            <a:pPr>
              <a:spcBef>
                <a:spcPts val="600"/>
              </a:spcBef>
              <a:defRPr sz="1400"/>
            </a:pPr>
            <a:r>
              <a:t>geom_bar() → bar chart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Slide 40 – Component 4: Statistical Transformations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400"/>
            </a:pPr>
            <a:r>
              <a:t>Compute derived values from data</a:t>
            </a:r>
          </a:p>
          <a:p>
            <a:pPr>
              <a:spcBef>
                <a:spcPts val="600"/>
              </a:spcBef>
              <a:defRPr sz="1400"/>
            </a:pPr>
            <a:r>
              <a:t>Common transformations:</a:t>
            </a:r>
          </a:p>
          <a:p>
            <a:pPr>
              <a:spcBef>
                <a:spcPts val="600"/>
              </a:spcBef>
              <a:defRPr sz="1400"/>
            </a:pPr>
            <a:r>
              <a:t>identity - Use data as-is (default for scatter plots)</a:t>
            </a:r>
          </a:p>
          <a:p>
            <a:pPr>
              <a:spcBef>
                <a:spcPts val="600"/>
              </a:spcBef>
              <a:defRPr sz="1400"/>
            </a:pPr>
            <a:r>
              <a:t>count - Count observations (histograms)</a:t>
            </a:r>
          </a:p>
          <a:p>
            <a:pPr>
              <a:spcBef>
                <a:spcPts val="600"/>
              </a:spcBef>
              <a:defRPr sz="1400"/>
            </a:pPr>
            <a:r>
              <a:t>bin - Bin continuous data</a:t>
            </a:r>
          </a:p>
          <a:p>
            <a:pPr>
              <a:spcBef>
                <a:spcPts val="600"/>
              </a:spcBef>
              <a:defRPr sz="1400"/>
            </a:pPr>
            <a:r>
              <a:t>smooth - Fit smoothing line</a:t>
            </a:r>
          </a:p>
          <a:p>
            <a:pPr>
              <a:spcBef>
                <a:spcPts val="600"/>
              </a:spcBef>
              <a:defRPr sz="1400"/>
            </a:pPr>
            <a:r>
              <a:t>boxplot - Compute quartiles</a:t>
            </a:r>
          </a:p>
          <a:p>
            <a:pPr>
              <a:spcBef>
                <a:spcPts val="600"/>
              </a:spcBef>
              <a:defRPr sz="1400"/>
            </a:pPr>
            <a:r>
              <a:t>density - Compute density estimation</a:t>
            </a:r>
          </a:p>
          <a:p>
            <a:pPr>
              <a:spcBef>
                <a:spcPts val="600"/>
              </a:spcBef>
              <a:defRPr sz="1400"/>
            </a:pPr>
            <a:r>
              <a:t>Example:</a:t>
            </a:r>
          </a:p>
          <a:p>
            <a:pPr>
              <a:spcBef>
                <a:spcPts val="600"/>
              </a:spcBef>
              <a:defRPr sz="1400"/>
            </a:pPr>
            <a:r>
              <a:t>Raw data: 1000 individual sales transactions</a:t>
            </a:r>
          </a:p>
          <a:p>
            <a:pPr>
              <a:spcBef>
                <a:spcPts val="600"/>
              </a:spcBef>
              <a:defRPr sz="1400"/>
            </a:pPr>
            <a:r>
              <a:t>After stat_count: Grouped counts per month</a:t>
            </a:r>
          </a:p>
          <a:p>
            <a:pPr>
              <a:spcBef>
                <a:spcPts val="600"/>
              </a:spcBef>
              <a:defRPr sz="1400"/>
            </a:pPr>
            <a:r>
              <a:t>After stat_smooth: Trend line with confidence interval</a:t>
            </a:r>
          </a:p>
          <a:p>
            <a:pPr>
              <a:spcBef>
                <a:spcPts val="600"/>
              </a:spcBef>
              <a:defRPr sz="1400"/>
            </a:pPr>
            <a:r>
              <a:t>Often implicit: Bar chart automatically counts, histogram automatically bins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Slide 41 – Component 5: Scales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400"/>
            </a:pPr>
            <a:r>
              <a:t>Control how data values map to visual values</a:t>
            </a:r>
          </a:p>
          <a:p>
            <a:pPr>
              <a:spcBef>
                <a:spcPts val="600"/>
              </a:spcBef>
              <a:defRPr sz="1400"/>
            </a:pPr>
            <a:r>
              <a:t>Examples:</a:t>
            </a:r>
          </a:p>
          <a:p>
            <a:pPr>
              <a:spcBef>
                <a:spcPts val="600"/>
              </a:spcBef>
              <a:defRPr sz="1400"/>
            </a:pPr>
            <a:r>
              <a:t>Position scales: Linear, logarithmic, date/time</a:t>
            </a:r>
          </a:p>
          <a:p>
            <a:pPr>
              <a:spcBef>
                <a:spcPts val="600"/>
              </a:spcBef>
              <a:defRPr sz="1400"/>
            </a:pPr>
            <a:r>
              <a:t>Color scales: Sequential, diverging, categorical palettes</a:t>
            </a:r>
          </a:p>
          <a:p>
            <a:pPr>
              <a:spcBef>
                <a:spcPts val="600"/>
              </a:spcBef>
              <a:defRPr sz="1400"/>
            </a:pPr>
            <a:r>
              <a:t>Size scales: Linear, square root (for area)</a:t>
            </a:r>
          </a:p>
          <a:p>
            <a:pPr>
              <a:spcBef>
                <a:spcPts val="600"/>
              </a:spcBef>
              <a:defRPr sz="1400"/>
            </a:pPr>
            <a:r>
              <a:t>Key functions:</a:t>
            </a:r>
          </a:p>
          <a:p>
            <a:pPr>
              <a:spcBef>
                <a:spcPts val="600"/>
              </a:spcBef>
              <a:defRPr sz="1400"/>
            </a:pPr>
            <a:r>
              <a:t>Define domain (data range)</a:t>
            </a:r>
          </a:p>
          <a:p>
            <a:pPr>
              <a:spcBef>
                <a:spcPts val="600"/>
              </a:spcBef>
              <a:defRPr sz="1400"/>
            </a:pPr>
            <a:r>
              <a:t>Define range (visual range)</a:t>
            </a:r>
          </a:p>
          <a:p>
            <a:pPr>
              <a:spcBef>
                <a:spcPts val="600"/>
              </a:spcBef>
              <a:defRPr sz="1400"/>
            </a:pPr>
            <a:r>
              <a:t>Handle transformations</a:t>
            </a:r>
          </a:p>
          <a:p>
            <a:pPr>
              <a:spcBef>
                <a:spcPts val="600"/>
              </a:spcBef>
              <a:defRPr sz="1400"/>
            </a:pPr>
            <a:r>
              <a:t>Create legends/axes</a:t>
            </a:r>
          </a:p>
          <a:p>
            <a:pPr>
              <a:spcBef>
                <a:spcPts val="600"/>
              </a:spcBef>
              <a:defRPr sz="1400"/>
            </a:pPr>
            <a:r>
              <a:t>Example:</a:t>
            </a:r>
          </a:p>
          <a:p>
            <a:pPr>
              <a:spcBef>
                <a:spcPts val="600"/>
              </a:spcBef>
              <a:defRPr sz="1400"/>
            </a:pPr>
            <a:r>
              <a:t>```</a:t>
            </a:r>
          </a:p>
          <a:p>
            <a:pPr>
              <a:spcBef>
                <a:spcPts val="600"/>
              </a:spcBef>
              <a:defRPr sz="1400"/>
            </a:pPr>
            <a:r>
              <a:t>Sales: $0 - $1M  →  Y-axis: 0px - 400px</a:t>
            </a:r>
          </a:p>
          <a:p>
            <a:pPr>
              <a:spcBef>
                <a:spcPts val="600"/>
              </a:spcBef>
              <a:defRPr sz="1400"/>
            </a:pPr>
            <a:r>
              <a:t>Product: A, B, C  →  Colors: blue, red, green</a:t>
            </a:r>
          </a:p>
          <a:p>
            <a:pPr>
              <a:spcBef>
                <a:spcPts val="600"/>
              </a:spcBef>
              <a:defRPr sz="1400"/>
            </a:pPr>
            <a:r>
              <a:t>```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Slide 42 – Component 6: Coordinate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400"/>
            </a:pPr>
            <a:r>
              <a:t>The space in which data is plotted</a:t>
            </a:r>
          </a:p>
          <a:p>
            <a:pPr>
              <a:spcBef>
                <a:spcPts val="600"/>
              </a:spcBef>
              <a:defRPr sz="1400"/>
            </a:pPr>
            <a:r>
              <a:t>Common coordinate systems:</a:t>
            </a:r>
          </a:p>
          <a:p>
            <a:pPr>
              <a:spcBef>
                <a:spcPts val="600"/>
              </a:spcBef>
              <a:defRPr sz="1400"/>
            </a:pPr>
            <a:r>
              <a:t>Cartesian (x, y) - Most common, rectangular</a:t>
            </a:r>
          </a:p>
          <a:p>
            <a:pPr>
              <a:spcBef>
                <a:spcPts val="600"/>
              </a:spcBef>
              <a:defRPr sz="1400"/>
            </a:pPr>
            <a:r>
              <a:t>Polar - Circular (pie charts, radar charts)</a:t>
            </a:r>
          </a:p>
          <a:p>
            <a:pPr>
              <a:spcBef>
                <a:spcPts val="600"/>
              </a:spcBef>
              <a:defRPr sz="1400"/>
            </a:pPr>
            <a:r>
              <a:t>Geographic - Map projections</a:t>
            </a:r>
          </a:p>
          <a:p>
            <a:pPr>
              <a:spcBef>
                <a:spcPts val="600"/>
              </a:spcBef>
              <a:defRPr sz="1400"/>
            </a:pPr>
            <a:r>
              <a:t>Transformed - Log scale, square root</a:t>
            </a:r>
          </a:p>
          <a:p>
            <a:pPr>
              <a:spcBef>
                <a:spcPts val="600"/>
              </a:spcBef>
              <a:defRPr sz="1400"/>
            </a:pPr>
            <a:r>
              <a:t>Impact:</a:t>
            </a:r>
          </a:p>
          <a:p>
            <a:pPr>
              <a:spcBef>
                <a:spcPts val="600"/>
              </a:spcBef>
              <a:defRPr sz="1400"/>
            </a:pPr>
            <a:r>
              <a:t>Same data, different coordinate system = dramatically different interpretation</a:t>
            </a:r>
          </a:p>
          <a:p>
            <a:pPr>
              <a:spcBef>
                <a:spcPts val="600"/>
              </a:spcBef>
              <a:defRPr sz="1400"/>
            </a:pPr>
            <a:r>
              <a:t>Cartesian bar chart vs. Polar (coxcomb) chart</a:t>
            </a:r>
          </a:p>
          <a:p>
            <a:pPr>
              <a:spcBef>
                <a:spcPts val="600"/>
              </a:spcBef>
              <a:defRPr sz="1400"/>
            </a:pPr>
            <a:r>
              <a:t>Design tip: Don't use polar coordinates unless circular relationships are meaningful!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Slide 43 – Component 7: Faceting (Small Multiples)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400"/>
            </a:pPr>
            <a:r>
              <a:t>Create subplots for data subsets</a:t>
            </a:r>
          </a:p>
          <a:p>
            <a:pPr>
              <a:spcBef>
                <a:spcPts val="600"/>
              </a:spcBef>
              <a:defRPr sz="1400"/>
            </a:pPr>
            <a:r>
              <a:t>Power of small multiples:</a:t>
            </a:r>
          </a:p>
          <a:p>
            <a:pPr>
              <a:spcBef>
                <a:spcPts val="600"/>
              </a:spcBef>
              <a:defRPr sz="1400"/>
            </a:pPr>
            <a:r>
              <a:t>[OK] Easy comparison across groups</a:t>
            </a:r>
          </a:p>
          <a:p>
            <a:pPr>
              <a:spcBef>
                <a:spcPts val="600"/>
              </a:spcBef>
              <a:defRPr sz="1400"/>
            </a:pPr>
            <a:r>
              <a:t>[OK] Reduces overplotting</a:t>
            </a:r>
          </a:p>
          <a:p>
            <a:pPr>
              <a:spcBef>
                <a:spcPts val="600"/>
              </a:spcBef>
              <a:defRPr sz="1400"/>
            </a:pPr>
            <a:r>
              <a:t>[OK] Maintains consistent scales</a:t>
            </a:r>
          </a:p>
          <a:p>
            <a:pPr>
              <a:spcBef>
                <a:spcPts val="600"/>
              </a:spcBef>
              <a:defRPr sz="1400"/>
            </a:pPr>
            <a:r>
              <a:t>[OK] Reduces cognitive load vs. overlaying</a:t>
            </a:r>
          </a:p>
          <a:p>
            <a:pPr>
              <a:spcBef>
                <a:spcPts val="600"/>
              </a:spcBef>
              <a:defRPr sz="1400"/>
            </a:pPr>
            <a:r>
              <a:t>Types:</a:t>
            </a:r>
          </a:p>
          <a:p>
            <a:pPr>
              <a:spcBef>
                <a:spcPts val="600"/>
              </a:spcBef>
              <a:defRPr sz="1400"/>
            </a:pPr>
            <a:r>
              <a:t>Grid: Rows × Columns (e.g., by Region × Product)</a:t>
            </a:r>
          </a:p>
          <a:p>
            <a:pPr>
              <a:spcBef>
                <a:spcPts val="600"/>
              </a:spcBef>
              <a:defRPr sz="1400"/>
            </a:pPr>
            <a:r>
              <a:t>Wrap: Single variable, wraps to fit space</a:t>
            </a:r>
          </a:p>
          <a:p>
            <a:pPr>
              <a:spcBef>
                <a:spcPts val="600"/>
              </a:spcBef>
              <a:defRPr sz="1400"/>
            </a:pPr>
            <a:r>
              <a:t>Example: Sales trends for each product category in separate panels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Slide 44 – Grammar and Cognitive 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400"/>
            </a:pPr>
            <a:r>
              <a:t>How Grammar of Graphics reduces cognitive load:</a:t>
            </a:r>
          </a:p>
          <a:p>
            <a:pPr>
              <a:spcBef>
                <a:spcPts val="600"/>
              </a:spcBef>
              <a:defRPr sz="1400"/>
            </a:pPr>
            <a:r>
              <a:t>[OK] Separation of concerns - Each component has one job</a:t>
            </a:r>
          </a:p>
          <a:p>
            <a:pPr>
              <a:spcBef>
                <a:spcPts val="600"/>
              </a:spcBef>
              <a:defRPr sz="1400"/>
            </a:pPr>
            <a:r>
              <a:t>[OK] Consistent structure - Same logic across all visualizations</a:t>
            </a:r>
          </a:p>
          <a:p>
            <a:pPr>
              <a:spcBef>
                <a:spcPts val="600"/>
              </a:spcBef>
              <a:defRPr sz="1400"/>
            </a:pPr>
            <a:r>
              <a:t>[OK] Explicit mappings - No hidden assumptions</a:t>
            </a:r>
          </a:p>
          <a:p>
            <a:pPr>
              <a:spcBef>
                <a:spcPts val="600"/>
              </a:spcBef>
              <a:defRPr sz="1400"/>
            </a:pPr>
            <a:r>
              <a:t>[OK] Composability - Build complex from simple</a:t>
            </a:r>
          </a:p>
          <a:p>
            <a:pPr>
              <a:spcBef>
                <a:spcPts val="600"/>
              </a:spcBef>
              <a:defRPr sz="1400"/>
            </a:pPr>
            <a:r>
              <a:t>[OK] Systematic thinking - Framework guides design decisions</a:t>
            </a:r>
          </a:p>
          <a:p>
            <a:pPr>
              <a:spcBef>
                <a:spcPts val="600"/>
              </a:spcBef>
              <a:defRPr sz="1400"/>
            </a:pPr>
            <a:r>
              <a:t>Result: Less accidental complexity, more intentional design</a:t>
            </a:r>
          </a:p>
          <a:p>
            <a:pPr>
              <a:spcBef>
                <a:spcPts val="600"/>
              </a:spcBef>
              <a:defRPr sz="1400"/>
            </a:pPr>
            <a:r>
              <a:t>The grammar makes design decisions explicit, reducing extraneous load.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Slide 45 – Transition to Python: Implementing the Grammar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400"/>
            </a:pPr>
            <a:r>
              <a:t>Now we'll see how to implement these concepts in Python</a:t>
            </a:r>
          </a:p>
          <a:p>
            <a:pPr>
              <a:spcBef>
                <a:spcPts val="600"/>
              </a:spcBef>
              <a:defRPr sz="1400"/>
            </a:pPr>
            <a:r>
              <a:t>Python visualization ecosystem:</a:t>
            </a:r>
          </a:p>
          <a:p>
            <a:pPr>
              <a:spcBef>
                <a:spcPts val="600"/>
              </a:spcBef>
              <a:defRPr sz="1400"/>
            </a:pPr>
            <a:r>
              <a:t>Matplotlib - Low-level, full control, foundation for others</a:t>
            </a:r>
          </a:p>
          <a:p>
            <a:pPr>
              <a:spcBef>
                <a:spcPts val="600"/>
              </a:spcBef>
              <a:defRPr sz="1400"/>
            </a:pPr>
            <a:r>
              <a:t>Seaborn - Statistical graphics, built on Matplotlib</a:t>
            </a:r>
          </a:p>
          <a:p>
            <a:pPr>
              <a:spcBef>
                <a:spcPts val="600"/>
              </a:spcBef>
              <a:defRPr sz="1400"/>
            </a:pPr>
            <a:r>
              <a:t>Plotly - Interactive visualizations</a:t>
            </a:r>
          </a:p>
          <a:p>
            <a:pPr>
              <a:spcBef>
                <a:spcPts val="600"/>
              </a:spcBef>
              <a:defRPr sz="1400"/>
            </a:pPr>
            <a:r>
              <a:t>Altair - Declarative, pure Grammar of Graphics implementation</a:t>
            </a:r>
          </a:p>
          <a:p>
            <a:pPr>
              <a:spcBef>
                <a:spcPts val="600"/>
              </a:spcBef>
              <a:defRPr sz="1400"/>
            </a:pPr>
            <a:r>
              <a:t>Today's focus: Matplotlib + Seaborn</a:t>
            </a:r>
          </a:p>
          <a:p>
            <a:pPr>
              <a:spcBef>
                <a:spcPts val="600"/>
              </a:spcBef>
              <a:defRPr sz="1400"/>
            </a:pPr>
            <a:r>
              <a:t>Why?</a:t>
            </a:r>
          </a:p>
          <a:p>
            <a:pPr>
              <a:spcBef>
                <a:spcPts val="600"/>
              </a:spcBef>
              <a:defRPr sz="1400"/>
            </a:pPr>
            <a:r>
              <a:t>Industry standard</a:t>
            </a:r>
          </a:p>
          <a:p>
            <a:pPr>
              <a:spcBef>
                <a:spcPts val="600"/>
              </a:spcBef>
              <a:defRPr sz="1400"/>
            </a:pPr>
            <a:r>
              <a:t>Flexible and powerful</a:t>
            </a:r>
          </a:p>
          <a:p>
            <a:pPr>
              <a:spcBef>
                <a:spcPts val="600"/>
              </a:spcBef>
              <a:defRPr sz="1400"/>
            </a:pPr>
            <a:r>
              <a:t>Foundation for understanding other libraries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Slide 46 – Python Visualization Ecosystem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400"/>
            </a:pPr>
            <a:r>
              <a:t>Matplotlib Architecture:</a:t>
            </a:r>
          </a:p>
          <a:p>
            <a:pPr>
              <a:spcBef>
                <a:spcPts val="600"/>
              </a:spcBef>
              <a:defRPr sz="1400"/>
            </a:pPr>
            <a:r>
              <a:t>```</a:t>
            </a:r>
          </a:p>
          <a:p>
            <a:pPr>
              <a:spcBef>
                <a:spcPts val="600"/>
              </a:spcBef>
              <a:defRPr sz="1400"/>
            </a:pPr>
            <a:r>
              <a:t>┌─────────────────────────────────────┐</a:t>
            </a:r>
          </a:p>
          <a:p>
            <a:pPr>
              <a:spcBef>
                <a:spcPts val="600"/>
              </a:spcBef>
              <a:defRPr sz="1400"/>
            </a:pPr>
            <a:r>
              <a:t>│        Pyplot (plt)                 │  ← High-level interface</a:t>
            </a:r>
          </a:p>
          <a:p>
            <a:pPr>
              <a:spcBef>
                <a:spcPts val="600"/>
              </a:spcBef>
              <a:defRPr sz="1400"/>
            </a:pPr>
            <a:r>
              <a:t>├─────────────────────────────────────┤</a:t>
            </a:r>
          </a:p>
          <a:p>
            <a:pPr>
              <a:spcBef>
                <a:spcPts val="600"/>
              </a:spcBef>
              <a:defRPr sz="1400"/>
            </a:pPr>
            <a:r>
              <a:t>│        Artist API                   │  ← Mid-level (figures, axes)</a:t>
            </a:r>
          </a:p>
          <a:p>
            <a:pPr>
              <a:spcBef>
                <a:spcPts val="600"/>
              </a:spcBef>
              <a:defRPr sz="1400"/>
            </a:pPr>
            <a:r>
              <a:t>├─────────────────────────────────────┤</a:t>
            </a:r>
          </a:p>
          <a:p>
            <a:pPr>
              <a:spcBef>
                <a:spcPts val="600"/>
              </a:spcBef>
              <a:defRPr sz="1400"/>
            </a:pPr>
            <a:r>
              <a:t>│        Backend (rendering)          │  ← Low-level rendering</a:t>
            </a:r>
          </a:p>
          <a:p>
            <a:pPr>
              <a:spcBef>
                <a:spcPts val="600"/>
              </a:spcBef>
              <a:defRPr sz="1400"/>
            </a:pPr>
            <a:r>
              <a:t>└─────────────────────────────────────┘</a:t>
            </a:r>
          </a:p>
          <a:p>
            <a:pPr>
              <a:spcBef>
                <a:spcPts val="600"/>
              </a:spcBef>
              <a:defRPr sz="1400"/>
            </a:pPr>
            <a:r>
              <a:t>```</a:t>
            </a:r>
          </a:p>
          <a:p>
            <a:pPr>
              <a:spcBef>
                <a:spcPts val="600"/>
              </a:spcBef>
              <a:defRPr sz="1400"/>
            </a:pPr>
            <a:r>
              <a:t>Seaborn sits on top:</a:t>
            </a:r>
          </a:p>
          <a:p>
            <a:pPr>
              <a:spcBef>
                <a:spcPts val="600"/>
              </a:spcBef>
              <a:defRPr sz="1400"/>
            </a:pPr>
            <a:r>
              <a:t>Provides high-level statistical plots</a:t>
            </a:r>
          </a:p>
          <a:p>
            <a:pPr>
              <a:spcBef>
                <a:spcPts val="600"/>
              </a:spcBef>
              <a:defRPr sz="1400"/>
            </a:pPr>
            <a:r>
              <a:t>Better default aesthetics</a:t>
            </a:r>
          </a:p>
          <a:p>
            <a:pPr>
              <a:spcBef>
                <a:spcPts val="600"/>
              </a:spcBef>
              <a:defRPr sz="1400"/>
            </a:pPr>
            <a:r>
              <a:t>Grammar-inspired interface</a:t>
            </a:r>
          </a:p>
          <a:p>
            <a:pPr>
              <a:spcBef>
                <a:spcPts val="600"/>
              </a:spcBef>
              <a:defRPr sz="1400"/>
            </a:pPr>
            <a:r>
              <a:t>Built on Matplotlib</a:t>
            </a:r>
          </a:p>
          <a:p>
            <a:pPr>
              <a:spcBef>
                <a:spcPts val="600"/>
              </a:spcBef>
              <a:defRPr sz="1400"/>
            </a:pPr>
            <a:r>
              <a:t>Learning path: Start with pyplot, understand axes/figures, then use Seaborn for statistical plots.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</a:defRPr>
            </a:pPr>
            <a:r>
              <a:t>Slide 47 – Matplotlib: Anatomy of a Figure</a:t>
            </a:r>
          </a:p>
        </p:txBody>
      </p:sp>
      <p:pic>
        <p:nvPicPr>
          <p:cNvPr id="3" name="Picture 2" descr="matplotlib_anatom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7315200" cy="484263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Slide 48 – Creating Your First Plot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400"/>
            </a:pPr>
            <a:r>
              <a:t>Basic bar chart in Matplotlib:</a:t>
            </a:r>
          </a:p>
          <a:p>
            <a:pPr>
              <a:spcBef>
                <a:spcPts val="600"/>
              </a:spcBef>
              <a:defRPr sz="1400"/>
            </a:pPr>
            <a:r>
              <a:t>```python</a:t>
            </a:r>
          </a:p>
          <a:p>
            <a:pPr>
              <a:spcBef>
                <a:spcPts val="600"/>
              </a:spcBef>
              <a:defRPr sz="1400"/>
            </a:pPr>
            <a:r>
              <a:t>import matplotlib.pyplot as plt</a:t>
            </a:r>
          </a:p>
          <a:p>
            <a:pPr>
              <a:spcBef>
                <a:spcPts val="600"/>
              </a:spcBef>
              <a:defRPr sz="1400"/>
            </a:pPr>
            <a:r>
              <a:t>import numpy as np</a:t>
            </a:r>
          </a:p>
          <a:p>
            <a:pPr>
              <a:spcBef>
                <a:spcPts val="600"/>
              </a:spcBef>
              <a:defRPr sz="1400"/>
            </a:pPr>
            <a:r>
              <a:t># Data</a:t>
            </a:r>
          </a:p>
          <a:p>
            <a:pPr>
              <a:spcBef>
                <a:spcPts val="600"/>
              </a:spcBef>
              <a:defRPr sz="1400"/>
            </a:pPr>
            <a:r>
              <a:t>categories = ['Product A', 'Product B', 'Product C', 'Product D']</a:t>
            </a:r>
          </a:p>
          <a:p>
            <a:pPr>
              <a:spcBef>
                <a:spcPts val="600"/>
              </a:spcBef>
              <a:defRPr sz="1400"/>
            </a:pPr>
            <a:r>
              <a:t>sales = [2500, 3200, 2800, 3500]</a:t>
            </a:r>
          </a:p>
          <a:p>
            <a:pPr>
              <a:spcBef>
                <a:spcPts val="600"/>
              </a:spcBef>
              <a:defRPr sz="1400"/>
            </a:pPr>
            <a:r>
              <a:t># Create plot</a:t>
            </a:r>
          </a:p>
          <a:p>
            <a:pPr>
              <a:spcBef>
                <a:spcPts val="600"/>
              </a:spcBef>
              <a:defRPr sz="1400"/>
            </a:pPr>
            <a:r>
              <a:t>fig, ax = plt.subplots(figsize=(8, 5))</a:t>
            </a:r>
          </a:p>
          <a:p>
            <a:pPr>
              <a:spcBef>
                <a:spcPts val="600"/>
              </a:spcBef>
              <a:defRPr sz="1400"/>
            </a:pPr>
            <a:r>
              <a:t>ax.bar(categories, sales, color='steelblue')</a:t>
            </a:r>
          </a:p>
          <a:p>
            <a:pPr>
              <a:spcBef>
                <a:spcPts val="600"/>
              </a:spcBef>
              <a:defRPr sz="1400"/>
            </a:pPr>
            <a:r>
              <a:t># Customize</a:t>
            </a:r>
          </a:p>
          <a:p>
            <a:pPr>
              <a:spcBef>
                <a:spcPts val="600"/>
              </a:spcBef>
              <a:defRPr sz="1400"/>
            </a:pPr>
            <a:r>
              <a:t>ax.set_xlabel('Product Category', fontsize=12)</a:t>
            </a:r>
          </a:p>
          <a:p>
            <a:pPr>
              <a:spcBef>
                <a:spcPts val="600"/>
              </a:spcBef>
              <a:defRPr sz="1400"/>
            </a:pPr>
            <a:r>
              <a:t>ax.set_ylabel('Sales ($)', fontsize=12)</a:t>
            </a:r>
          </a:p>
          <a:p>
            <a:pPr>
              <a:spcBef>
                <a:spcPts val="600"/>
              </a:spcBef>
              <a:defRPr sz="1400"/>
            </a:pPr>
            <a:r>
              <a:t>ax.set_title('Q1 2026 Sales by Product', fontsize=14, fontweight='bold')</a:t>
            </a:r>
          </a:p>
          <a:p>
            <a:pPr>
              <a:spcBef>
                <a:spcPts val="600"/>
              </a:spcBef>
              <a:defRPr sz="1400"/>
            </a:pPr>
            <a:r>
              <a:t># Add value labels on bars</a:t>
            </a:r>
          </a:p>
          <a:p>
            <a:pPr>
              <a:spcBef>
                <a:spcPts val="600"/>
              </a:spcBef>
              <a:defRPr sz="1400"/>
            </a:pPr>
            <a:r>
              <a:t>for i, v in enumerate(sales):</a:t>
            </a:r>
          </a:p>
          <a:p>
            <a:pPr>
              <a:spcBef>
                <a:spcPts val="600"/>
              </a:spcBef>
              <a:defRPr sz="1400"/>
            </a:pPr>
            <a:r>
              <a:t>ax.text(i, v + 50, str(v), ha='center', fontweight='bold')</a:t>
            </a:r>
          </a:p>
          <a:p>
            <a:pPr>
              <a:spcBef>
                <a:spcPts val="600"/>
              </a:spcBef>
              <a:defRPr sz="1400"/>
            </a:pPr>
            <a:r>
              <a:t>plt.tight_layout()</a:t>
            </a:r>
          </a:p>
          <a:p>
            <a:pPr>
              <a:spcBef>
                <a:spcPts val="600"/>
              </a:spcBef>
              <a:defRPr sz="1400"/>
            </a:pPr>
            <a:r>
              <a:t>plt.show()</a:t>
            </a:r>
          </a:p>
          <a:p>
            <a:pPr>
              <a:spcBef>
                <a:spcPts val="600"/>
              </a:spcBef>
              <a:defRPr sz="1400"/>
            </a:pPr>
            <a:r>
              <a:t>```</a:t>
            </a:r>
          </a:p>
          <a:p>
            <a:pPr>
              <a:spcBef>
                <a:spcPts val="600"/>
              </a:spcBef>
              <a:defRPr sz="1400"/>
            </a:pPr>
            <a:r>
              <a:t>Output: Clean bar chart with direct labeling (reducing cognitive load!)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Slide 49 – Customizing Plots: Colors, Labels, Styles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400"/>
            </a:pPr>
            <a:r>
              <a:t>Applying perception principles:</a:t>
            </a:r>
          </a:p>
          <a:p>
            <a:pPr>
              <a:spcBef>
                <a:spcPts val="600"/>
              </a:spcBef>
              <a:defRPr sz="1400"/>
            </a:pPr>
            <a:r>
              <a:t>```python</a:t>
            </a:r>
          </a:p>
          <a:p>
            <a:pPr>
              <a:spcBef>
                <a:spcPts val="600"/>
              </a:spcBef>
              <a:defRPr sz="1400"/>
            </a:pPr>
            <a:r>
              <a:t>import matplotlib.pyplot as plt</a:t>
            </a:r>
          </a:p>
          <a:p>
            <a:pPr>
              <a:spcBef>
                <a:spcPts val="600"/>
              </a:spcBef>
              <a:defRPr sz="1400"/>
            </a:pPr>
            <a:r>
              <a:t># Create data</a:t>
            </a:r>
          </a:p>
          <a:p>
            <a:pPr>
              <a:spcBef>
                <a:spcPts val="600"/>
              </a:spcBef>
              <a:defRPr sz="1400"/>
            </a:pPr>
            <a:r>
              <a:t>months = ['Jan', 'Feb', 'Mar', 'Apr', 'May', 'Jun']</a:t>
            </a:r>
          </a:p>
          <a:p>
            <a:pPr>
              <a:spcBef>
                <a:spcPts val="600"/>
              </a:spcBef>
              <a:defRPr sz="1400"/>
            </a:pPr>
            <a:r>
              <a:t>sales_2025 = [45000, 48000, 52000, 49000, 55000, 58000]</a:t>
            </a:r>
          </a:p>
          <a:p>
            <a:pPr>
              <a:spcBef>
                <a:spcPts val="600"/>
              </a:spcBef>
              <a:defRPr sz="1400"/>
            </a:pPr>
            <a:r>
              <a:t>sales_2026 = [47000, 51000, 56000, 54000, 60000, 65000]</a:t>
            </a:r>
          </a:p>
          <a:p>
            <a:pPr>
              <a:spcBef>
                <a:spcPts val="600"/>
              </a:spcBef>
              <a:defRPr sz="1400"/>
            </a:pPr>
            <a:r>
              <a:t># Create plot with good practices</a:t>
            </a:r>
          </a:p>
          <a:p>
            <a:pPr>
              <a:spcBef>
                <a:spcPts val="600"/>
              </a:spcBef>
              <a:defRPr sz="1400"/>
            </a:pPr>
            <a:r>
              <a:t>fig, ax = plt.subplots(figsize=(10, 6))</a:t>
            </a:r>
          </a:p>
          <a:p>
            <a:pPr>
              <a:spcBef>
                <a:spcPts val="600"/>
              </a:spcBef>
              <a:defRPr sz="1400"/>
            </a:pPr>
            <a:r>
              <a:t># Use position (best encoding for quantitative comparison)</a:t>
            </a:r>
          </a:p>
          <a:p>
            <a:pPr>
              <a:spcBef>
                <a:spcPts val="600"/>
              </a:spcBef>
              <a:defRPr sz="1400"/>
            </a:pPr>
            <a:r>
              <a:t>ax.plot(months, sales_2025, marker='o', linewidth=2,</a:t>
            </a:r>
          </a:p>
          <a:p>
            <a:pPr>
              <a:spcBef>
                <a:spcPts val="600"/>
              </a:spcBef>
              <a:defRPr sz="1400"/>
            </a:pPr>
            <a:r>
              <a:t>label='2025', color='#2E86AB')  # Distinct colors</a:t>
            </a:r>
          </a:p>
          <a:p>
            <a:pPr>
              <a:spcBef>
                <a:spcPts val="600"/>
              </a:spcBef>
              <a:defRPr sz="1400"/>
            </a:pPr>
            <a:r>
              <a:t>ax.plot(months, sales_2026, marker='s', linewidth=2,</a:t>
            </a:r>
          </a:p>
          <a:p>
            <a:pPr>
              <a:spcBef>
                <a:spcPts val="600"/>
              </a:spcBef>
              <a:defRPr sz="1400"/>
            </a:pPr>
            <a:r>
              <a:t>label='2026', color='#A23B72')</a:t>
            </a:r>
          </a:p>
          <a:p>
            <a:pPr>
              <a:spcBef>
                <a:spcPts val="600"/>
              </a:spcBef>
              <a:defRPr sz="1400"/>
            </a:pPr>
            <a:r>
              <a:t># Clear labels (reduce extraneous load)</a:t>
            </a:r>
          </a:p>
          <a:p>
            <a:pPr>
              <a:spcBef>
                <a:spcPts val="600"/>
              </a:spcBef>
              <a:defRPr sz="1400"/>
            </a:pPr>
            <a:r>
              <a:t>ax.set_xlabel('Month', fontsize=11)</a:t>
            </a:r>
          </a:p>
          <a:p>
            <a:pPr>
              <a:spcBef>
                <a:spcPts val="600"/>
              </a:spcBef>
              <a:defRPr sz="1400"/>
            </a:pPr>
            <a:r>
              <a:t>ax.set_ylabel('Sales ($)', fontsize=11)</a:t>
            </a:r>
          </a:p>
          <a:p>
            <a:pPr>
              <a:spcBef>
                <a:spcPts val="600"/>
              </a:spcBef>
              <a:defRPr sz="1400"/>
            </a:pPr>
            <a:r>
              <a:t>ax.set_title('Sales Comparison: 2025 vs 2026',</a:t>
            </a:r>
          </a:p>
          <a:p>
            <a:pPr>
              <a:spcBef>
                <a:spcPts val="600"/>
              </a:spcBef>
              <a:defRPr sz="1400"/>
            </a:pPr>
            <a:r>
              <a:t>fontsize=13, fontweight='bold', pad=15)</a:t>
            </a:r>
          </a:p>
          <a:p>
            <a:pPr>
              <a:spcBef>
                <a:spcPts val="600"/>
              </a:spcBef>
              <a:defRPr sz="1400"/>
            </a:pPr>
            <a:r>
              <a:t># Legend with clear positioning</a:t>
            </a:r>
          </a:p>
          <a:p>
            <a:pPr>
              <a:spcBef>
                <a:spcPts val="600"/>
              </a:spcBef>
              <a:defRPr sz="1400"/>
            </a:pPr>
            <a:r>
              <a:t>ax.legend(frameon=True, loc='upper left', fontsize=10)</a:t>
            </a:r>
          </a:p>
          <a:p>
            <a:pPr>
              <a:spcBef>
                <a:spcPts val="600"/>
              </a:spcBef>
              <a:defRPr sz="1400"/>
            </a:pPr>
            <a:r>
              <a:t># Remove top and right spines (reduce clutter)</a:t>
            </a:r>
          </a:p>
          <a:p>
            <a:pPr>
              <a:spcBef>
                <a:spcPts val="600"/>
              </a:spcBef>
              <a:defRPr sz="1400"/>
            </a:pPr>
            <a:r>
              <a:t>ax.spines['top'].set_visible(False)</a:t>
            </a:r>
          </a:p>
          <a:p>
            <a:pPr>
              <a:spcBef>
                <a:spcPts val="600"/>
              </a:spcBef>
              <a:defRPr sz="1400"/>
            </a:pPr>
            <a:r>
              <a:t>ax.spines['right'].set_visible(False)</a:t>
            </a:r>
          </a:p>
          <a:p>
            <a:pPr>
              <a:spcBef>
                <a:spcPts val="600"/>
              </a:spcBef>
              <a:defRPr sz="1400"/>
            </a:pPr>
            <a:r>
              <a:t># Add grid for easier reading (but subtle)</a:t>
            </a:r>
          </a:p>
          <a:p>
            <a:pPr>
              <a:spcBef>
                <a:spcPts val="600"/>
              </a:spcBef>
              <a:defRPr sz="1400"/>
            </a:pPr>
            <a:r>
              <a:t>ax.grid(True, alpha=0.3, linestyle='--')</a:t>
            </a:r>
          </a:p>
          <a:p>
            <a:pPr>
              <a:spcBef>
                <a:spcPts val="600"/>
              </a:spcBef>
              <a:defRPr sz="1400"/>
            </a:pPr>
            <a:r>
              <a:t>plt.tight_layout()</a:t>
            </a:r>
          </a:p>
          <a:p>
            <a:pPr>
              <a:spcBef>
                <a:spcPts val="600"/>
              </a:spcBef>
              <a:defRPr sz="1400"/>
            </a:pPr>
            <a:r>
              <a:t>plt.show()</a:t>
            </a:r>
          </a:p>
          <a:p>
            <a:pPr>
              <a:spcBef>
                <a:spcPts val="600"/>
              </a:spcBef>
              <a:defRPr sz="1400"/>
            </a:pPr>
            <a:r>
              <a:t>```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Slide 50 – Matplotlib: Common Plot Types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400"/>
            </a:pPr>
            <a:r>
              <a:t>Quick reference for basic plots:</a:t>
            </a:r>
          </a:p>
          <a:p>
            <a:pPr>
              <a:spcBef>
                <a:spcPts val="600"/>
              </a:spcBef>
              <a:defRPr sz="1400"/>
            </a:pPr>
            <a:r>
              <a:t>```python</a:t>
            </a:r>
          </a:p>
          <a:p>
            <a:pPr>
              <a:spcBef>
                <a:spcPts val="600"/>
              </a:spcBef>
              <a:defRPr sz="1400"/>
            </a:pPr>
            <a:r>
              <a:t>import matplotlib.pyplot as plt</a:t>
            </a:r>
          </a:p>
          <a:p>
            <a:pPr>
              <a:spcBef>
                <a:spcPts val="600"/>
              </a:spcBef>
              <a:defRPr sz="1400"/>
            </a:pPr>
            <a:r>
              <a:t>import numpy as np</a:t>
            </a:r>
          </a:p>
          <a:p>
            <a:pPr>
              <a:spcBef>
                <a:spcPts val="600"/>
              </a:spcBef>
              <a:defRPr sz="1400"/>
            </a:pPr>
            <a:r>
              <a:t># Sample data</a:t>
            </a:r>
          </a:p>
          <a:p>
            <a:pPr>
              <a:spcBef>
                <a:spcPts val="600"/>
              </a:spcBef>
              <a:defRPr sz="1400"/>
            </a:pPr>
            <a:r>
              <a:t>x = np.arange(10)</a:t>
            </a:r>
          </a:p>
          <a:p>
            <a:pPr>
              <a:spcBef>
                <a:spcPts val="600"/>
              </a:spcBef>
              <a:defRPr sz="1400"/>
            </a:pPr>
            <a:r>
              <a:t>y1 = np.random.rand(10) * 100</a:t>
            </a:r>
          </a:p>
          <a:p>
            <a:pPr>
              <a:spcBef>
                <a:spcPts val="600"/>
              </a:spcBef>
              <a:defRPr sz="1400"/>
            </a:pPr>
            <a:r>
              <a:t>y2 = np.random.rand(10) * 100</a:t>
            </a:r>
          </a:p>
          <a:p>
            <a:pPr>
              <a:spcBef>
                <a:spcPts val="600"/>
              </a:spcBef>
              <a:defRPr sz="1400"/>
            </a:pPr>
            <a:r>
              <a:t>fig, axes = plt.subplots(2, 3, figsize=(12, 8))</a:t>
            </a:r>
          </a:p>
          <a:p>
            <a:pPr>
              <a:spcBef>
                <a:spcPts val="600"/>
              </a:spcBef>
              <a:defRPr sz="1400"/>
            </a:pPr>
            <a:r>
              <a:t># Scatter plot</a:t>
            </a:r>
          </a:p>
          <a:p>
            <a:pPr>
              <a:spcBef>
                <a:spcPts val="600"/>
              </a:spcBef>
              <a:defRPr sz="1400"/>
            </a:pPr>
            <a:r>
              <a:t>axes[0,0].scatter(y1, y2, alpha=0.6, s=100)</a:t>
            </a:r>
          </a:p>
          <a:p>
            <a:pPr>
              <a:spcBef>
                <a:spcPts val="600"/>
              </a:spcBef>
              <a:defRPr sz="1400"/>
            </a:pPr>
            <a:r>
              <a:t>axes[0,0].set_title('Scatter Plot')</a:t>
            </a:r>
          </a:p>
          <a:p>
            <a:pPr>
              <a:spcBef>
                <a:spcPts val="600"/>
              </a:spcBef>
              <a:defRPr sz="1400"/>
            </a:pPr>
            <a:r>
              <a:t># Line plot</a:t>
            </a:r>
          </a:p>
          <a:p>
            <a:pPr>
              <a:spcBef>
                <a:spcPts val="600"/>
              </a:spcBef>
              <a:defRPr sz="1400"/>
            </a:pPr>
            <a:r>
              <a:t>axes[0,1].plot(x, y1, marker='o')</a:t>
            </a:r>
          </a:p>
          <a:p>
            <a:pPr>
              <a:spcBef>
                <a:spcPts val="600"/>
              </a:spcBef>
              <a:defRPr sz="1400"/>
            </a:pPr>
            <a:r>
              <a:t>axes[0,1].set_title('Line Plot')</a:t>
            </a:r>
          </a:p>
          <a:p>
            <a:pPr>
              <a:spcBef>
                <a:spcPts val="600"/>
              </a:spcBef>
              <a:defRPr sz="1400"/>
            </a:pPr>
            <a:r>
              <a:t># Bar chart</a:t>
            </a:r>
          </a:p>
          <a:p>
            <a:pPr>
              <a:spcBef>
                <a:spcPts val="600"/>
              </a:spcBef>
              <a:defRPr sz="1400"/>
            </a:pPr>
            <a:r>
              <a:t>axes[0,2].bar(x, y1, color='coral')</a:t>
            </a:r>
          </a:p>
          <a:p>
            <a:pPr>
              <a:spcBef>
                <a:spcPts val="600"/>
              </a:spcBef>
              <a:defRPr sz="1400"/>
            </a:pPr>
            <a:r>
              <a:t>axes[0,2].set_title('Bar Chart')</a:t>
            </a:r>
          </a:p>
          <a:p>
            <a:pPr>
              <a:spcBef>
                <a:spcPts val="600"/>
              </a:spcBef>
              <a:defRPr sz="1400"/>
            </a:pPr>
            <a:r>
              <a:t># Histogram</a:t>
            </a:r>
          </a:p>
          <a:p>
            <a:pPr>
              <a:spcBef>
                <a:spcPts val="600"/>
              </a:spcBef>
              <a:defRPr sz="1400"/>
            </a:pPr>
            <a:r>
              <a:t>axes[1,0].hist(y1, bins=10, edgecolor='black', alpha=0.7)</a:t>
            </a:r>
          </a:p>
          <a:p>
            <a:pPr>
              <a:spcBef>
                <a:spcPts val="600"/>
              </a:spcBef>
              <a:defRPr sz="1400"/>
            </a:pPr>
            <a:r>
              <a:t>axes[1,0].set_title('Histogram')</a:t>
            </a:r>
          </a:p>
          <a:p>
            <a:pPr>
              <a:spcBef>
                <a:spcPts val="600"/>
              </a:spcBef>
              <a:defRPr sz="1400"/>
            </a:pPr>
            <a:r>
              <a:t># Box plot</a:t>
            </a:r>
          </a:p>
          <a:p>
            <a:pPr>
              <a:spcBef>
                <a:spcPts val="600"/>
              </a:spcBef>
              <a:defRPr sz="1400"/>
            </a:pPr>
            <a:r>
              <a:t>axes[1,1].boxplot([y1, y2], labels=['Group A', 'Group B'])</a:t>
            </a:r>
          </a:p>
          <a:p>
            <a:pPr>
              <a:spcBef>
                <a:spcPts val="600"/>
              </a:spcBef>
              <a:defRPr sz="1400"/>
            </a:pPr>
            <a:r>
              <a:t>axes[1,1].set_title('Box Plot')</a:t>
            </a:r>
          </a:p>
          <a:p>
            <a:pPr>
              <a:spcBef>
                <a:spcPts val="600"/>
              </a:spcBef>
              <a:defRPr sz="1400"/>
            </a:pPr>
            <a:r>
              <a:t># Heatmap (using imshow)</a:t>
            </a:r>
          </a:p>
          <a:p>
            <a:pPr>
              <a:spcBef>
                <a:spcPts val="600"/>
              </a:spcBef>
              <a:defRPr sz="1400"/>
            </a:pPr>
            <a:r>
              <a:t>data = np.random.rand(10, 10)</a:t>
            </a:r>
          </a:p>
          <a:p>
            <a:pPr>
              <a:spcBef>
                <a:spcPts val="600"/>
              </a:spcBef>
              <a:defRPr sz="1400"/>
            </a:pPr>
            <a:r>
              <a:t>im = axes[1,2].imshow(data, cmap='YlOrRd')</a:t>
            </a:r>
          </a:p>
          <a:p>
            <a:pPr>
              <a:spcBef>
                <a:spcPts val="600"/>
              </a:spcBef>
              <a:defRPr sz="1400"/>
            </a:pPr>
            <a:r>
              <a:t>axes[1,2].set_title('Heatmap')</a:t>
            </a:r>
          </a:p>
          <a:p>
            <a:pPr>
              <a:spcBef>
                <a:spcPts val="600"/>
              </a:spcBef>
              <a:defRPr sz="1400"/>
            </a:pPr>
            <a:r>
              <a:t>plt.colorbar(im, ax=axes[1,2])</a:t>
            </a:r>
          </a:p>
          <a:p>
            <a:pPr>
              <a:spcBef>
                <a:spcPts val="600"/>
              </a:spcBef>
              <a:defRPr sz="1400"/>
            </a:pPr>
            <a:r>
              <a:t>plt.tight_layout()</a:t>
            </a:r>
          </a:p>
          <a:p>
            <a:pPr>
              <a:spcBef>
                <a:spcPts val="600"/>
              </a:spcBef>
              <a:defRPr sz="1400"/>
            </a:pPr>
            <a:r>
              <a:t>plt.show()</a:t>
            </a:r>
          </a:p>
          <a:p>
            <a:pPr>
              <a:spcBef>
                <a:spcPts val="600"/>
              </a:spcBef>
              <a:defRPr sz="1400"/>
            </a:pPr>
            <a:r>
              <a:t>```</a:t>
            </a:r>
          </a:p>
          <a:p>
            <a:pPr>
              <a:spcBef>
                <a:spcPts val="600"/>
              </a:spcBef>
              <a:defRPr sz="1400"/>
            </a:pPr>
            <a:r>
              <a:t>Key insight: Same pyplot interface, different geom!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Slide 51 – Introduction to Seaborn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400"/>
            </a:pPr>
            <a:r>
              <a:t>Seaborn = Statistical Data Visualization</a:t>
            </a:r>
          </a:p>
          <a:p>
            <a:pPr>
              <a:spcBef>
                <a:spcPts val="600"/>
              </a:spcBef>
              <a:defRPr sz="1400"/>
            </a:pPr>
            <a:r>
              <a:t>Built on Matplotlib, but provides:</a:t>
            </a:r>
          </a:p>
          <a:p>
            <a:pPr>
              <a:spcBef>
                <a:spcPts val="600"/>
              </a:spcBef>
              <a:defRPr sz="1400"/>
            </a:pPr>
            <a:r>
              <a:t>Better default aesthetics</a:t>
            </a:r>
          </a:p>
          <a:p>
            <a:pPr>
              <a:spcBef>
                <a:spcPts val="600"/>
              </a:spcBef>
              <a:defRPr sz="1400"/>
            </a:pPr>
            <a:r>
              <a:t>Grammar-inspired interface</a:t>
            </a:r>
          </a:p>
          <a:p>
            <a:pPr>
              <a:spcBef>
                <a:spcPts val="600"/>
              </a:spcBef>
              <a:defRPr sz="1400"/>
            </a:pPr>
            <a:r>
              <a:t>Statistical transformations built-in</a:t>
            </a:r>
          </a:p>
          <a:p>
            <a:pPr>
              <a:spcBef>
                <a:spcPts val="600"/>
              </a:spcBef>
              <a:defRPr sz="1400"/>
            </a:pPr>
            <a:r>
              <a:t>Works directly with pandas DataFrames</a:t>
            </a:r>
          </a:p>
          <a:p>
            <a:pPr>
              <a:spcBef>
                <a:spcPts val="600"/>
              </a:spcBef>
              <a:defRPr sz="1400"/>
            </a:pPr>
            <a:r>
              <a:t>Themes and color palettes</a:t>
            </a:r>
          </a:p>
          <a:p>
            <a:pPr>
              <a:spcBef>
                <a:spcPts val="600"/>
              </a:spcBef>
              <a:defRPr sz="1400"/>
            </a:pPr>
            <a:r>
              <a:t>Installation:</a:t>
            </a:r>
          </a:p>
          <a:p>
            <a:pPr>
              <a:spcBef>
                <a:spcPts val="600"/>
              </a:spcBef>
              <a:defRPr sz="1400"/>
            </a:pPr>
            <a:r>
              <a:t>```python</a:t>
            </a:r>
          </a:p>
          <a:p>
            <a:pPr>
              <a:spcBef>
                <a:spcPts val="600"/>
              </a:spcBef>
              <a:defRPr sz="1400"/>
            </a:pPr>
            <a:r>
              <a:t>pip install seaborn</a:t>
            </a:r>
          </a:p>
          <a:p>
            <a:pPr>
              <a:spcBef>
                <a:spcPts val="600"/>
              </a:spcBef>
              <a:defRPr sz="1400"/>
            </a:pPr>
            <a:r>
              <a:t>```</a:t>
            </a:r>
          </a:p>
          <a:p>
            <a:pPr>
              <a:spcBef>
                <a:spcPts val="600"/>
              </a:spcBef>
              <a:defRPr sz="1400"/>
            </a:pPr>
            <a:r>
              <a:t>Import convention:</a:t>
            </a:r>
          </a:p>
          <a:p>
            <a:pPr>
              <a:spcBef>
                <a:spcPts val="600"/>
              </a:spcBef>
              <a:defRPr sz="1400"/>
            </a:pPr>
            <a:r>
              <a:t>```python</a:t>
            </a:r>
          </a:p>
          <a:p>
            <a:pPr>
              <a:spcBef>
                <a:spcPts val="600"/>
              </a:spcBef>
              <a:defRPr sz="1400"/>
            </a:pPr>
            <a:r>
              <a:t>import seaborn as sns</a:t>
            </a:r>
          </a:p>
          <a:p>
            <a:pPr>
              <a:spcBef>
                <a:spcPts val="600"/>
              </a:spcBef>
              <a:defRPr sz="1400"/>
            </a:pPr>
            <a:r>
              <a:t>import matplotlib.pyplot as plt</a:t>
            </a:r>
          </a:p>
          <a:p>
            <a:pPr>
              <a:spcBef>
                <a:spcPts val="600"/>
              </a:spcBef>
              <a:defRPr sz="1400"/>
            </a:pPr>
            <a:r>
              <a:t>```</a:t>
            </a:r>
          </a:p>
          <a:p>
            <a:pPr>
              <a:spcBef>
                <a:spcPts val="600"/>
              </a:spcBef>
              <a:defRPr sz="1400"/>
            </a:pPr>
            <a:r>
              <a:t>Philosophy: Make complex statistical plots simple, apply perception principles by default.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Slide 52 – Seaborn: Working with DataFrames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400"/>
            </a:pPr>
            <a:r>
              <a:t>Seaborn loves pandas DataFrames:</a:t>
            </a:r>
          </a:p>
          <a:p>
            <a:pPr>
              <a:spcBef>
                <a:spcPts val="600"/>
              </a:spcBef>
              <a:defRPr sz="1400"/>
            </a:pPr>
            <a:r>
              <a:t>```python</a:t>
            </a:r>
          </a:p>
          <a:p>
            <a:pPr>
              <a:spcBef>
                <a:spcPts val="600"/>
              </a:spcBef>
              <a:defRPr sz="1400"/>
            </a:pPr>
            <a:r>
              <a:t>import seaborn as sns</a:t>
            </a:r>
          </a:p>
          <a:p>
            <a:pPr>
              <a:spcBef>
                <a:spcPts val="600"/>
              </a:spcBef>
              <a:defRPr sz="1400"/>
            </a:pPr>
            <a:r>
              <a:t>import pandas as pd</a:t>
            </a:r>
          </a:p>
          <a:p>
            <a:pPr>
              <a:spcBef>
                <a:spcPts val="600"/>
              </a:spcBef>
              <a:defRPr sz="1400"/>
            </a:pPr>
            <a:r>
              <a:t># Create sample data</a:t>
            </a:r>
          </a:p>
          <a:p>
            <a:pPr>
              <a:spcBef>
                <a:spcPts val="600"/>
              </a:spcBef>
              <a:defRPr sz="1400"/>
            </a:pPr>
            <a:r>
              <a:t>data = pd.DataFrame({</a:t>
            </a:r>
          </a:p>
          <a:p>
            <a:pPr>
              <a:spcBef>
                <a:spcPts val="600"/>
              </a:spcBef>
              <a:defRPr sz="1400"/>
            </a:pPr>
            <a:r>
              <a:t>'month': ['Jan', 'Feb', 'Mar', 'Apr', 'May', 'Jun'] * 2,</a:t>
            </a:r>
          </a:p>
          <a:p>
            <a:pPr>
              <a:spcBef>
                <a:spcPts val="600"/>
              </a:spcBef>
              <a:defRPr sz="1400"/>
            </a:pPr>
            <a:r>
              <a:t>'sales': [2500, 2700, 3000, 2900, 3200, 3400,</a:t>
            </a:r>
          </a:p>
          <a:p>
            <a:pPr>
              <a:spcBef>
                <a:spcPts val="600"/>
              </a:spcBef>
              <a:defRPr sz="1400"/>
            </a:pPr>
            <a:r>
              <a:t>2600, 2800, 3100, 3000, 3300, 3500],</a:t>
            </a:r>
          </a:p>
          <a:p>
            <a:pPr>
              <a:spcBef>
                <a:spcPts val="600"/>
              </a:spcBef>
              <a:defRPr sz="1400"/>
            </a:pPr>
            <a:r>
              <a:t>'region': ['North']6 + ['South']6</a:t>
            </a:r>
          </a:p>
          <a:p>
            <a:pPr>
              <a:spcBef>
                <a:spcPts val="600"/>
              </a:spcBef>
              <a:defRPr sz="1400"/>
            </a:pPr>
            <a:r>
              <a:t>})</a:t>
            </a:r>
          </a:p>
          <a:p>
            <a:pPr>
              <a:spcBef>
                <a:spcPts val="600"/>
              </a:spcBef>
              <a:defRPr sz="1400"/>
            </a:pPr>
            <a:r>
              <a:t># Create plot using column names (Grammar-like!)</a:t>
            </a:r>
          </a:p>
          <a:p>
            <a:pPr>
              <a:spcBef>
                <a:spcPts val="600"/>
              </a:spcBef>
              <a:defRPr sz="1400"/>
            </a:pPr>
            <a:r>
              <a:t>sns.lineplot(data=data, x='month', y='sales', hue='region',</a:t>
            </a:r>
          </a:p>
          <a:p>
            <a:pPr>
              <a:spcBef>
                <a:spcPts val="600"/>
              </a:spcBef>
              <a:defRPr sz="1400"/>
            </a:pPr>
            <a:r>
              <a:t>marker='o', linewidth=2)</a:t>
            </a:r>
          </a:p>
          <a:p>
            <a:pPr>
              <a:spcBef>
                <a:spcPts val="600"/>
              </a:spcBef>
              <a:defRPr sz="1400"/>
            </a:pPr>
            <a:r>
              <a:t>plt.title('Sales by Region Over Time')</a:t>
            </a:r>
          </a:p>
          <a:p>
            <a:pPr>
              <a:spcBef>
                <a:spcPts val="600"/>
              </a:spcBef>
              <a:defRPr sz="1400"/>
            </a:pPr>
            <a:r>
              <a:t>plt.show()</a:t>
            </a:r>
          </a:p>
          <a:p>
            <a:pPr>
              <a:spcBef>
                <a:spcPts val="600"/>
              </a:spcBef>
              <a:defRPr sz="1400"/>
            </a:pPr>
            <a:r>
              <a:t>```</a:t>
            </a:r>
          </a:p>
          <a:p>
            <a:pPr>
              <a:spcBef>
                <a:spcPts val="600"/>
              </a:spcBef>
              <a:defRPr sz="1400"/>
            </a:pPr>
            <a:r>
              <a:t>Notice: Direct mapping from data columns to aesthetics!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Slide 53 – Seaborn Plot Types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400"/>
            </a:pPr>
            <a:r>
              <a:t>Common Seaborn plots mapped to tasks:</a:t>
            </a:r>
          </a:p>
          <a:p>
            <a:pPr>
              <a:spcBef>
                <a:spcPts val="600"/>
              </a:spcBef>
              <a:defRPr sz="1400"/>
            </a:pPr>
            <a:r>
              <a:t>Distribution:</a:t>
            </a:r>
          </a:p>
          <a:p>
            <a:pPr>
              <a:spcBef>
                <a:spcPts val="600"/>
              </a:spcBef>
              <a:defRPr sz="1400"/>
            </a:pPr>
            <a:r>
              <a:t>histplot() - Histograms with KDE</a:t>
            </a:r>
          </a:p>
          <a:p>
            <a:pPr>
              <a:spcBef>
                <a:spcPts val="600"/>
              </a:spcBef>
              <a:defRPr sz="1400"/>
            </a:pPr>
            <a:r>
              <a:t>kdeplot() - Kernel density estimation</a:t>
            </a:r>
          </a:p>
          <a:p>
            <a:pPr>
              <a:spcBef>
                <a:spcPts val="600"/>
              </a:spcBef>
              <a:defRPr sz="1400"/>
            </a:pPr>
            <a:r>
              <a:t>boxplot() - Box-and-whisker</a:t>
            </a:r>
          </a:p>
          <a:p>
            <a:pPr>
              <a:spcBef>
                <a:spcPts val="600"/>
              </a:spcBef>
              <a:defRPr sz="1400"/>
            </a:pPr>
            <a:r>
              <a:t>violinplot() - Violin plot (box + density)</a:t>
            </a:r>
          </a:p>
          <a:p>
            <a:pPr>
              <a:spcBef>
                <a:spcPts val="600"/>
              </a:spcBef>
              <a:defRPr sz="1400"/>
            </a:pPr>
            <a:r>
              <a:t>Relationships:</a:t>
            </a:r>
          </a:p>
          <a:p>
            <a:pPr>
              <a:spcBef>
                <a:spcPts val="600"/>
              </a:spcBef>
              <a:defRPr sz="1400"/>
            </a:pPr>
            <a:r>
              <a:t>scatterplot() - Scatter with regression</a:t>
            </a:r>
          </a:p>
          <a:p>
            <a:pPr>
              <a:spcBef>
                <a:spcPts val="600"/>
              </a:spcBef>
              <a:defRPr sz="1400"/>
            </a:pPr>
            <a:r>
              <a:t>lineplot() - Line with confidence intervals</a:t>
            </a:r>
          </a:p>
          <a:p>
            <a:pPr>
              <a:spcBef>
                <a:spcPts val="600"/>
              </a:spcBef>
              <a:defRPr sz="1400"/>
            </a:pPr>
            <a:r>
              <a:t>regplot() - Scatter + regression line</a:t>
            </a:r>
          </a:p>
          <a:p>
            <a:pPr>
              <a:spcBef>
                <a:spcPts val="600"/>
              </a:spcBef>
              <a:defRPr sz="1400"/>
            </a:pPr>
            <a:r>
              <a:t>Categories:</a:t>
            </a:r>
          </a:p>
          <a:p>
            <a:pPr>
              <a:spcBef>
                <a:spcPts val="600"/>
              </a:spcBef>
              <a:defRPr sz="1400"/>
            </a:pPr>
            <a:r>
              <a:t>barplot() - Bars with confidence intervals</a:t>
            </a:r>
          </a:p>
          <a:p>
            <a:pPr>
              <a:spcBef>
                <a:spcPts val="600"/>
              </a:spcBef>
              <a:defRPr sz="1400"/>
            </a:pPr>
            <a:r>
              <a:t>countplot() - Count plot</a:t>
            </a:r>
          </a:p>
          <a:p>
            <a:pPr>
              <a:spcBef>
                <a:spcPts val="600"/>
              </a:spcBef>
              <a:defRPr sz="1400"/>
            </a:pPr>
            <a:r>
              <a:t>pointplot() - Point estimates with error bars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Slide 54 – Seaborn Example: Distribution Plot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400"/>
            </a:pPr>
            <a:r>
              <a:t>Visualizing distributions with built-in statistics:</a:t>
            </a:r>
          </a:p>
          <a:p>
            <a:pPr>
              <a:spcBef>
                <a:spcPts val="600"/>
              </a:spcBef>
              <a:defRPr sz="1400"/>
            </a:pPr>
            <a:r>
              <a:t>```python</a:t>
            </a:r>
          </a:p>
          <a:p>
            <a:pPr>
              <a:spcBef>
                <a:spcPts val="600"/>
              </a:spcBef>
              <a:defRPr sz="1400"/>
            </a:pPr>
            <a:r>
              <a:t>import seaborn as sns</a:t>
            </a:r>
          </a:p>
          <a:p>
            <a:pPr>
              <a:spcBef>
                <a:spcPts val="600"/>
              </a:spcBef>
              <a:defRPr sz="1400"/>
            </a:pPr>
            <a:r>
              <a:t>import numpy as np</a:t>
            </a:r>
          </a:p>
          <a:p>
            <a:pPr>
              <a:spcBef>
                <a:spcPts val="600"/>
              </a:spcBef>
              <a:defRPr sz="1400"/>
            </a:pPr>
            <a:r>
              <a:t>import matplotlib.pyplot as plt</a:t>
            </a:r>
          </a:p>
          <a:p>
            <a:pPr>
              <a:spcBef>
                <a:spcPts val="600"/>
              </a:spcBef>
              <a:defRPr sz="1400"/>
            </a:pPr>
            <a:r>
              <a:t># Generate sample data</a:t>
            </a:r>
          </a:p>
          <a:p>
            <a:pPr>
              <a:spcBef>
                <a:spcPts val="600"/>
              </a:spcBef>
              <a:defRPr sz="1400"/>
            </a:pPr>
            <a:r>
              <a:t>np.random.seed(42)</a:t>
            </a:r>
          </a:p>
          <a:p>
            <a:pPr>
              <a:spcBef>
                <a:spcPts val="600"/>
              </a:spcBef>
              <a:defRPr sz="1400"/>
            </a:pPr>
            <a:r>
              <a:t>data1 = np.random.normal(100, 15, 500)</a:t>
            </a:r>
          </a:p>
          <a:p>
            <a:pPr>
              <a:spcBef>
                <a:spcPts val="600"/>
              </a:spcBef>
              <a:defRPr sz="1400"/>
            </a:pPr>
            <a:r>
              <a:t>data2 = np.random.normal(120, 20, 500)</a:t>
            </a:r>
          </a:p>
          <a:p>
            <a:pPr>
              <a:spcBef>
                <a:spcPts val="600"/>
              </a:spcBef>
              <a:defRPr sz="1400"/>
            </a:pPr>
            <a:r>
              <a:t># Create figure</a:t>
            </a:r>
          </a:p>
          <a:p>
            <a:pPr>
              <a:spcBef>
                <a:spcPts val="600"/>
              </a:spcBef>
              <a:defRPr sz="1400"/>
            </a:pPr>
            <a:r>
              <a:t>fig, axes = plt.subplots(1, 2, figsize=(12, 5))</a:t>
            </a:r>
          </a:p>
          <a:p>
            <a:pPr>
              <a:spcBef>
                <a:spcPts val="600"/>
              </a:spcBef>
              <a:defRPr sz="1400"/>
            </a:pPr>
            <a:r>
              <a:t># Histogram with KDE</a:t>
            </a:r>
          </a:p>
          <a:p>
            <a:pPr>
              <a:spcBef>
                <a:spcPts val="600"/>
              </a:spcBef>
              <a:defRPr sz="1400"/>
            </a:pPr>
            <a:r>
              <a:t>sns.histplot(data1, kde=True, color='steelblue', ax=axes[0])</a:t>
            </a:r>
          </a:p>
          <a:p>
            <a:pPr>
              <a:spcBef>
                <a:spcPts val="600"/>
              </a:spcBef>
              <a:defRPr sz="1400"/>
            </a:pPr>
            <a:r>
              <a:t>axes[0].set_title('Sales Distribution - Product A')</a:t>
            </a:r>
          </a:p>
          <a:p>
            <a:pPr>
              <a:spcBef>
                <a:spcPts val="600"/>
              </a:spcBef>
              <a:defRPr sz="1400"/>
            </a:pPr>
            <a:r>
              <a:t>axes[0].set_xlabel('Daily Sales ($)')</a:t>
            </a:r>
          </a:p>
          <a:p>
            <a:pPr>
              <a:spcBef>
                <a:spcPts val="600"/>
              </a:spcBef>
              <a:defRPr sz="1400"/>
            </a:pPr>
            <a:r>
              <a:t># Violin plot comparing two groups</a:t>
            </a:r>
          </a:p>
          <a:p>
            <a:pPr>
              <a:spcBef>
                <a:spcPts val="600"/>
              </a:spcBef>
              <a:defRPr sz="1400"/>
            </a:pPr>
            <a:r>
              <a:t>import pandas as pd</a:t>
            </a:r>
          </a:p>
          <a:p>
            <a:pPr>
              <a:spcBef>
                <a:spcPts val="600"/>
              </a:spcBef>
              <a:defRPr sz="1400"/>
            </a:pPr>
            <a:r>
              <a:t>df = pd.DataFrame({</a:t>
            </a:r>
          </a:p>
          <a:p>
            <a:pPr>
              <a:spcBef>
                <a:spcPts val="600"/>
              </a:spcBef>
              <a:defRPr sz="1400"/>
            </a:pPr>
            <a:r>
              <a:t>'Sales': np.concatenate([data1, data2]),</a:t>
            </a:r>
          </a:p>
          <a:p>
            <a:pPr>
              <a:spcBef>
                <a:spcPts val="600"/>
              </a:spcBef>
              <a:defRPr sz="1400"/>
            </a:pPr>
            <a:r>
              <a:t>'Product': ['A']500 + ['B']500</a:t>
            </a:r>
          </a:p>
          <a:p>
            <a:pPr>
              <a:spcBef>
                <a:spcPts val="600"/>
              </a:spcBef>
              <a:defRPr sz="1400"/>
            </a:pPr>
            <a:r>
              <a:t>})</a:t>
            </a:r>
          </a:p>
          <a:p>
            <a:pPr>
              <a:spcBef>
                <a:spcPts val="600"/>
              </a:spcBef>
              <a:defRPr sz="1400"/>
            </a:pPr>
            <a:r>
              <a:t>sns.violinplot(data=df, x='Product', y='Sales', ax=axes[1])</a:t>
            </a:r>
          </a:p>
          <a:p>
            <a:pPr>
              <a:spcBef>
                <a:spcPts val="600"/>
              </a:spcBef>
              <a:defRPr sz="1400"/>
            </a:pPr>
            <a:r>
              <a:t>axes[1].set_title('Sales Distribution Comparison')</a:t>
            </a:r>
          </a:p>
          <a:p>
            <a:pPr>
              <a:spcBef>
                <a:spcPts val="600"/>
              </a:spcBef>
              <a:defRPr sz="1400"/>
            </a:pPr>
            <a:r>
              <a:t>plt.tight_layout()</a:t>
            </a:r>
          </a:p>
          <a:p>
            <a:pPr>
              <a:spcBef>
                <a:spcPts val="600"/>
              </a:spcBef>
              <a:defRPr sz="1400"/>
            </a:pPr>
            <a:r>
              <a:t>plt.show()</a:t>
            </a:r>
          </a:p>
          <a:p>
            <a:pPr>
              <a:spcBef>
                <a:spcPts val="600"/>
              </a:spcBef>
              <a:defRPr sz="1400"/>
            </a:pPr>
            <a:r>
              <a:t>```</a:t>
            </a:r>
          </a:p>
          <a:p>
            <a:pPr>
              <a:spcBef>
                <a:spcPts val="600"/>
              </a:spcBef>
              <a:defRPr sz="1400"/>
            </a:pPr>
            <a:r>
              <a:t>Automatic statistical transformations!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Slide 55 – Seaborn: Faceting (Small Multiples)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400"/>
            </a:pPr>
            <a:r>
              <a:t>Create small multiples with FacetGrid:</a:t>
            </a:r>
          </a:p>
          <a:p>
            <a:pPr>
              <a:spcBef>
                <a:spcPts val="600"/>
              </a:spcBef>
              <a:defRPr sz="1400"/>
            </a:pPr>
            <a:r>
              <a:t>```python</a:t>
            </a:r>
          </a:p>
          <a:p>
            <a:pPr>
              <a:spcBef>
                <a:spcPts val="600"/>
              </a:spcBef>
              <a:defRPr sz="1400"/>
            </a:pPr>
            <a:r>
              <a:t>import seaborn as sns</a:t>
            </a:r>
          </a:p>
          <a:p>
            <a:pPr>
              <a:spcBef>
                <a:spcPts val="600"/>
              </a:spcBef>
              <a:defRPr sz="1400"/>
            </a:pPr>
            <a:r>
              <a:t>import pandas as pd</a:t>
            </a:r>
          </a:p>
          <a:p>
            <a:pPr>
              <a:spcBef>
                <a:spcPts val="600"/>
              </a:spcBef>
              <a:defRPr sz="1400"/>
            </a:pPr>
            <a:r>
              <a:t># Load sample data</a:t>
            </a:r>
          </a:p>
          <a:p>
            <a:pPr>
              <a:spcBef>
                <a:spcPts val="600"/>
              </a:spcBef>
              <a:defRPr sz="1400"/>
            </a:pPr>
            <a:r>
              <a:t>tips = sns.load_dataset('tips')</a:t>
            </a:r>
          </a:p>
          <a:p>
            <a:pPr>
              <a:spcBef>
                <a:spcPts val="600"/>
              </a:spcBef>
              <a:defRPr sz="1400"/>
            </a:pPr>
            <a:r>
              <a:t># Create FacetGrid (Component 7: Faceting!)</a:t>
            </a:r>
          </a:p>
          <a:p>
            <a:pPr>
              <a:spcBef>
                <a:spcPts val="600"/>
              </a:spcBef>
              <a:defRPr sz="1400"/>
            </a:pPr>
            <a:r>
              <a:t>g = sns.FacetGrid(tips, col='time', row='smoker', height=4)</a:t>
            </a:r>
          </a:p>
          <a:p>
            <a:pPr>
              <a:spcBef>
                <a:spcPts val="600"/>
              </a:spcBef>
              <a:defRPr sz="1400"/>
            </a:pPr>
            <a:r>
              <a:t>g.map(sns.scatterplot, 'total_bill', 'tip', alpha=0.7)</a:t>
            </a:r>
          </a:p>
          <a:p>
            <a:pPr>
              <a:spcBef>
                <a:spcPts val="600"/>
              </a:spcBef>
              <a:defRPr sz="1400"/>
            </a:pPr>
            <a:r>
              <a:t>g.add_legend()</a:t>
            </a:r>
          </a:p>
          <a:p>
            <a:pPr>
              <a:spcBef>
                <a:spcPts val="600"/>
              </a:spcBef>
              <a:defRPr sz="1400"/>
            </a:pPr>
            <a:r>
              <a:t>g.set_titles(col_template="{col_name}", row_template="{row_name}")</a:t>
            </a:r>
          </a:p>
          <a:p>
            <a:pPr>
              <a:spcBef>
                <a:spcPts val="600"/>
              </a:spcBef>
              <a:defRPr sz="1400"/>
            </a:pPr>
            <a:r>
              <a:t>g.set_axis_labels("Total Bill ($)", "Tip ($)")</a:t>
            </a:r>
          </a:p>
          <a:p>
            <a:pPr>
              <a:spcBef>
                <a:spcPts val="600"/>
              </a:spcBef>
              <a:defRPr sz="1400"/>
            </a:pPr>
            <a:r>
              <a:t>plt.show()</a:t>
            </a:r>
          </a:p>
          <a:p>
            <a:pPr>
              <a:spcBef>
                <a:spcPts val="600"/>
              </a:spcBef>
              <a:defRPr sz="1400"/>
            </a:pPr>
            <a:r>
              <a:t>```</a:t>
            </a:r>
          </a:p>
          <a:p>
            <a:pPr>
              <a:spcBef>
                <a:spcPts val="600"/>
              </a:spcBef>
              <a:defRPr sz="1400"/>
            </a:pPr>
            <a:r>
              <a:t>Result: 4 panels (Lunch/Dinner × Smoker/Non-smoker)</a:t>
            </a:r>
          </a:p>
          <a:p>
            <a:pPr>
              <a:spcBef>
                <a:spcPts val="600"/>
              </a:spcBef>
              <a:defRPr sz="1400"/>
            </a:pPr>
            <a:r>
              <a:t>Grammar in action:</a:t>
            </a:r>
          </a:p>
          <a:p>
            <a:pPr>
              <a:spcBef>
                <a:spcPts val="600"/>
              </a:spcBef>
              <a:defRPr sz="1400"/>
            </a:pPr>
            <a:r>
              <a:t>Data: tips dataset</a:t>
            </a:r>
          </a:p>
          <a:p>
            <a:pPr>
              <a:spcBef>
                <a:spcPts val="600"/>
              </a:spcBef>
              <a:defRPr sz="1400"/>
            </a:pPr>
            <a:r>
              <a:t>Aesthetics: x=total_bill, y=tip</a:t>
            </a:r>
          </a:p>
          <a:p>
            <a:pPr>
              <a:spcBef>
                <a:spcPts val="600"/>
              </a:spcBef>
              <a:defRPr sz="1400"/>
            </a:pPr>
            <a:r>
              <a:t>Geom: scatter</a:t>
            </a:r>
          </a:p>
          <a:p>
            <a:pPr>
              <a:spcBef>
                <a:spcPts val="600"/>
              </a:spcBef>
              <a:defRPr sz="1400"/>
            </a:pPr>
            <a:r>
              <a:t>Facets: time × smoker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Slide 56 – Color Palettes in Python: Perception-Aware Choices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400"/>
            </a:pPr>
            <a:r>
              <a:t>Choosing the right color palette matters!</a:t>
            </a:r>
          </a:p>
          <a:p>
            <a:pPr>
              <a:spcBef>
                <a:spcPts val="600"/>
              </a:spcBef>
              <a:defRPr sz="1400"/>
            </a:pPr>
            <a:r>
              <a:t>```python</a:t>
            </a:r>
          </a:p>
          <a:p>
            <a:pPr>
              <a:spcBef>
                <a:spcPts val="600"/>
              </a:spcBef>
              <a:defRPr sz="1400"/>
            </a:pPr>
            <a:r>
              <a:t>import seaborn as sns</a:t>
            </a:r>
          </a:p>
          <a:p>
            <a:pPr>
              <a:spcBef>
                <a:spcPts val="600"/>
              </a:spcBef>
              <a:defRPr sz="1400"/>
            </a:pPr>
            <a:r>
              <a:t>import matplotlib.pyplot as plt</a:t>
            </a:r>
          </a:p>
          <a:p>
            <a:pPr>
              <a:spcBef>
                <a:spcPts val="600"/>
              </a:spcBef>
              <a:defRPr sz="1400"/>
            </a:pPr>
            <a:r>
              <a:t>import numpy as np</a:t>
            </a:r>
          </a:p>
          <a:p>
            <a:pPr>
              <a:spcBef>
                <a:spcPts val="600"/>
              </a:spcBef>
              <a:defRPr sz="1400"/>
            </a:pPr>
            <a:r>
              <a:t># Sample data</a:t>
            </a:r>
          </a:p>
          <a:p>
            <a:pPr>
              <a:spcBef>
                <a:spcPts val="600"/>
              </a:spcBef>
              <a:defRPr sz="1400"/>
            </a:pPr>
            <a:r>
              <a:t>data = np.random.randn(100, 4)</a:t>
            </a:r>
          </a:p>
          <a:p>
            <a:pPr>
              <a:spcBef>
                <a:spcPts val="600"/>
              </a:spcBef>
              <a:defRPr sz="1400"/>
            </a:pPr>
            <a:r>
              <a:t>fig, axes = plt.subplots(1, 3, figsize=(15, 4))</a:t>
            </a:r>
          </a:p>
          <a:p>
            <a:pPr>
              <a:spcBef>
                <a:spcPts val="600"/>
              </a:spcBef>
              <a:defRPr sz="1400"/>
            </a:pPr>
            <a:r>
              <a:t># [X] BAD: Rainbow (perceptually non-uniform, creates false boundaries)</a:t>
            </a:r>
          </a:p>
          <a:p>
            <a:pPr>
              <a:spcBef>
                <a:spcPts val="600"/>
              </a:spcBef>
              <a:defRPr sz="1400"/>
            </a:pPr>
            <a:r>
              <a:t>axes[0].imshow(data, cmap='jet', aspect='auto')</a:t>
            </a:r>
          </a:p>
          <a:p>
            <a:pPr>
              <a:spcBef>
                <a:spcPts val="600"/>
              </a:spcBef>
              <a:defRPr sz="1400"/>
            </a:pPr>
            <a:r>
              <a:t>axes[0].set_title('[X] Rainbow (Jet) - Avoid!')</a:t>
            </a:r>
          </a:p>
          <a:p>
            <a:pPr>
              <a:spcBef>
                <a:spcPts val="600"/>
              </a:spcBef>
              <a:defRPr sz="1400"/>
            </a:pPr>
            <a:r>
              <a:t># [OK] GOOD: Sequential (perceptually uniform)</a:t>
            </a:r>
          </a:p>
          <a:p>
            <a:pPr>
              <a:spcBef>
                <a:spcPts val="600"/>
              </a:spcBef>
              <a:defRPr sz="1400"/>
            </a:pPr>
            <a:r>
              <a:t>axes[1].imshow(data, cmap='viridis', aspect='auto')</a:t>
            </a:r>
          </a:p>
          <a:p>
            <a:pPr>
              <a:spcBef>
                <a:spcPts val="600"/>
              </a:spcBef>
              <a:defRPr sz="1400"/>
            </a:pPr>
            <a:r>
              <a:t>axes[1].set_title('[OK] Viridis - Sequential Data')</a:t>
            </a:r>
          </a:p>
          <a:p>
            <a:pPr>
              <a:spcBef>
                <a:spcPts val="600"/>
              </a:spcBef>
              <a:defRPr sz="1400"/>
            </a:pPr>
            <a:r>
              <a:t># [OK] GOOD: Diverging (for data with meaningful midpoint)</a:t>
            </a:r>
          </a:p>
          <a:p>
            <a:pPr>
              <a:spcBef>
                <a:spcPts val="600"/>
              </a:spcBef>
              <a:defRPr sz="1400"/>
            </a:pPr>
            <a:r>
              <a:t>axes[2].imshow(data, cmap='RdBu_r', aspect='auto')</a:t>
            </a:r>
          </a:p>
          <a:p>
            <a:pPr>
              <a:spcBef>
                <a:spcPts val="600"/>
              </a:spcBef>
              <a:defRPr sz="1400"/>
            </a:pPr>
            <a:r>
              <a:t>axes[2].set_title('[OK] Red-Blue - Diverging Data')</a:t>
            </a:r>
          </a:p>
          <a:p>
            <a:pPr>
              <a:spcBef>
                <a:spcPts val="600"/>
              </a:spcBef>
              <a:defRPr sz="1400"/>
            </a:pPr>
            <a:r>
              <a:t>plt.tight_layout()</a:t>
            </a:r>
          </a:p>
          <a:p>
            <a:pPr>
              <a:spcBef>
                <a:spcPts val="600"/>
              </a:spcBef>
              <a:defRPr sz="1400"/>
            </a:pPr>
            <a:r>
              <a:t>plt.show()</a:t>
            </a:r>
          </a:p>
          <a:p>
            <a:pPr>
              <a:spcBef>
                <a:spcPts val="600"/>
              </a:spcBef>
              <a:defRPr sz="1400"/>
            </a:pPr>
            <a:r>
              <a:t>```</a:t>
            </a:r>
          </a:p>
          <a:p>
            <a:pPr>
              <a:spcBef>
                <a:spcPts val="600"/>
              </a:spcBef>
              <a:defRPr sz="1400"/>
            </a:pPr>
            <a:r>
              <a:t>Seaborn color palettes:</a:t>
            </a:r>
          </a:p>
          <a:p>
            <a:pPr>
              <a:spcBef>
                <a:spcPts val="600"/>
              </a:spcBef>
              <a:defRPr sz="1400"/>
            </a:pPr>
            <a:r>
              <a:t>Categorical: 'Set2', 'tab10', 'Paired'</a:t>
            </a:r>
          </a:p>
          <a:p>
            <a:pPr>
              <a:spcBef>
                <a:spcPts val="600"/>
              </a:spcBef>
              <a:defRPr sz="1400"/>
            </a:pPr>
            <a:r>
              <a:t>Sequential: 'Blues', 'Greens', 'rocket'</a:t>
            </a:r>
          </a:p>
          <a:p>
            <a:pPr>
              <a:spcBef>
                <a:spcPts val="600"/>
              </a:spcBef>
              <a:defRPr sz="1400"/>
            </a:pPr>
            <a:r>
              <a:t>Diverging: 'RdBu', 'coolwarm', 'vlag'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Slide 57 – Applying Preattentive Features in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400"/>
            </a:pPr>
            <a:r>
              <a:t>Using color for visual pop-out:</a:t>
            </a:r>
          </a:p>
          <a:p>
            <a:pPr>
              <a:spcBef>
                <a:spcPts val="600"/>
              </a:spcBef>
              <a:defRPr sz="1400"/>
            </a:pPr>
            <a:r>
              <a:t>```python</a:t>
            </a:r>
          </a:p>
          <a:p>
            <a:pPr>
              <a:spcBef>
                <a:spcPts val="600"/>
              </a:spcBef>
              <a:defRPr sz="1400"/>
            </a:pPr>
            <a:r>
              <a:t>import matplotlib.pyplot as plt</a:t>
            </a:r>
          </a:p>
          <a:p>
            <a:pPr>
              <a:spcBef>
                <a:spcPts val="600"/>
              </a:spcBef>
              <a:defRPr sz="1400"/>
            </a:pPr>
            <a:r>
              <a:t>import numpy as np</a:t>
            </a:r>
          </a:p>
          <a:p>
            <a:pPr>
              <a:spcBef>
                <a:spcPts val="600"/>
              </a:spcBef>
              <a:defRPr sz="1400"/>
            </a:pPr>
            <a:r>
              <a:t># Data</a:t>
            </a:r>
          </a:p>
          <a:p>
            <a:pPr>
              <a:spcBef>
                <a:spcPts val="600"/>
              </a:spcBef>
              <a:defRPr sz="1400"/>
            </a:pPr>
            <a:r>
              <a:t>categories = ['Q1', 'Q2', 'Q3', 'Q4']</a:t>
            </a:r>
          </a:p>
          <a:p>
            <a:pPr>
              <a:spcBef>
                <a:spcPts val="600"/>
              </a:spcBef>
              <a:defRPr sz="1400"/>
            </a:pPr>
            <a:r>
              <a:t>sales_2025 = [450, 480, 520, 490]</a:t>
            </a:r>
          </a:p>
          <a:p>
            <a:pPr>
              <a:spcBef>
                <a:spcPts val="600"/>
              </a:spcBef>
              <a:defRPr sz="1400"/>
            </a:pPr>
            <a:r>
              <a:t>sales_2026 = [470, 510, 560, 540]</a:t>
            </a:r>
          </a:p>
          <a:p>
            <a:pPr>
              <a:spcBef>
                <a:spcPts val="600"/>
              </a:spcBef>
              <a:defRPr sz="1400"/>
            </a:pPr>
            <a:r>
              <a:t>fig, axes = plt.subplots(1, 2, figsize=(12, 5))</a:t>
            </a:r>
          </a:p>
          <a:p>
            <a:pPr>
              <a:spcBef>
                <a:spcPts val="600"/>
              </a:spcBef>
              <a:defRPr sz="1400"/>
            </a:pPr>
            <a:r>
              <a:t># WITHOUT preattentive highlighting</a:t>
            </a:r>
          </a:p>
          <a:p>
            <a:pPr>
              <a:spcBef>
                <a:spcPts val="600"/>
              </a:spcBef>
              <a:defRPr sz="1400"/>
            </a:pPr>
            <a:r>
              <a:t>axes[0].bar(categories, sales_2025, color='steelblue', alpha=0.7)</a:t>
            </a:r>
          </a:p>
          <a:p>
            <a:pPr>
              <a:spcBef>
                <a:spcPts val="600"/>
              </a:spcBef>
              <a:defRPr sz="1400"/>
            </a:pPr>
            <a:r>
              <a:t>axes[0].set_title('Without Visual Emphasis')</a:t>
            </a:r>
          </a:p>
          <a:p>
            <a:pPr>
              <a:spcBef>
                <a:spcPts val="600"/>
              </a:spcBef>
              <a:defRPr sz="1400"/>
            </a:pPr>
            <a:r>
              <a:t>axes[0].set_ylabel('Sales (K$)')</a:t>
            </a:r>
          </a:p>
          <a:p>
            <a:pPr>
              <a:spcBef>
                <a:spcPts val="600"/>
              </a:spcBef>
              <a:defRPr sz="1400"/>
            </a:pPr>
            <a:r>
              <a:t># WITH preattentive highlighting (Q3 is best quarter)</a:t>
            </a:r>
          </a:p>
          <a:p>
            <a:pPr>
              <a:spcBef>
                <a:spcPts val="600"/>
              </a:spcBef>
              <a:defRPr sz="1400"/>
            </a:pPr>
            <a:r>
              <a:t>colors = ['#CCCCCC', '#CCCCCC', '#E63946', '#CCCCCC']  # Pop-out!</a:t>
            </a:r>
          </a:p>
          <a:p>
            <a:pPr>
              <a:spcBef>
                <a:spcPts val="600"/>
              </a:spcBef>
              <a:defRPr sz="1400"/>
            </a:pPr>
            <a:r>
              <a:t>axes[1].bar(categories, sales_2026, color=colors, alpha=0.9)</a:t>
            </a:r>
          </a:p>
          <a:p>
            <a:pPr>
              <a:spcBef>
                <a:spcPts val="600"/>
              </a:spcBef>
              <a:defRPr sz="1400"/>
            </a:pPr>
            <a:r>
              <a:t>axes[1].set_title('With Visual Emphasis - Q3 Highlighted')</a:t>
            </a:r>
          </a:p>
          <a:p>
            <a:pPr>
              <a:spcBef>
                <a:spcPts val="600"/>
              </a:spcBef>
              <a:defRPr sz="1400"/>
            </a:pPr>
            <a:r>
              <a:t>axes[1].set_ylabel('Sales (K$)')</a:t>
            </a:r>
          </a:p>
          <a:p>
            <a:pPr>
              <a:spcBef>
                <a:spcPts val="600"/>
              </a:spcBef>
              <a:defRPr sz="1400"/>
            </a:pPr>
            <a:r>
              <a:t>plt.tight_layout()</a:t>
            </a:r>
          </a:p>
          <a:p>
            <a:pPr>
              <a:spcBef>
                <a:spcPts val="600"/>
              </a:spcBef>
              <a:defRPr sz="1400"/>
            </a:pPr>
            <a:r>
              <a:t>plt.show()</a:t>
            </a:r>
          </a:p>
          <a:p>
            <a:pPr>
              <a:spcBef>
                <a:spcPts val="600"/>
              </a:spcBef>
              <a:defRPr sz="1400"/>
            </a:pPr>
            <a:r>
              <a:t>```</a:t>
            </a:r>
          </a:p>
          <a:p>
            <a:pPr>
              <a:spcBef>
                <a:spcPts val="600"/>
              </a:spcBef>
              <a:defRPr sz="1400"/>
            </a:pPr>
            <a:r>
              <a:t>Result: Q3 immediately pops out (preattentive color feature)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Slide 58 – Reducing Clutter: Before and After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400"/>
            </a:pPr>
            <a:r>
              <a:t>Applying "reduce extraneous load" principle:</a:t>
            </a:r>
          </a:p>
          <a:p>
            <a:pPr>
              <a:spcBef>
                <a:spcPts val="600"/>
              </a:spcBef>
              <a:defRPr sz="1400"/>
            </a:pPr>
            <a:r>
              <a:t>```python</a:t>
            </a:r>
          </a:p>
          <a:p>
            <a:pPr>
              <a:spcBef>
                <a:spcPts val="600"/>
              </a:spcBef>
              <a:defRPr sz="1400"/>
            </a:pPr>
            <a:r>
              <a:t>import matplotlib.pyplot as plt</a:t>
            </a:r>
          </a:p>
          <a:p>
            <a:pPr>
              <a:spcBef>
                <a:spcPts val="600"/>
              </a:spcBef>
              <a:defRPr sz="1400"/>
            </a:pPr>
            <a:r>
              <a:t>import numpy as np</a:t>
            </a:r>
          </a:p>
          <a:p>
            <a:pPr>
              <a:spcBef>
                <a:spcPts val="600"/>
              </a:spcBef>
              <a:defRPr sz="1400"/>
            </a:pPr>
            <a:r>
              <a:t>months = ['Jan', 'Feb', 'Mar', 'Apr', 'May', 'Jun']</a:t>
            </a:r>
          </a:p>
          <a:p>
            <a:pPr>
              <a:spcBef>
                <a:spcPts val="600"/>
              </a:spcBef>
              <a:defRPr sz="1400"/>
            </a:pPr>
            <a:r>
              <a:t>sales = [2500, 2700, 3000, 2900, 3200, 3400]</a:t>
            </a:r>
          </a:p>
          <a:p>
            <a:pPr>
              <a:spcBef>
                <a:spcPts val="600"/>
              </a:spcBef>
              <a:defRPr sz="1400"/>
            </a:pPr>
            <a:r>
              <a:t>fig, axes = plt.subplots(1, 2, figsize=(14, 5))</a:t>
            </a:r>
          </a:p>
          <a:p>
            <a:pPr>
              <a:spcBef>
                <a:spcPts val="600"/>
              </a:spcBef>
              <a:defRPr sz="1400"/>
            </a:pPr>
            <a:r>
              <a:t># [X] CLUTTERED (high extraneous load)</a:t>
            </a:r>
          </a:p>
          <a:p>
            <a:pPr>
              <a:spcBef>
                <a:spcPts val="600"/>
              </a:spcBef>
              <a:defRPr sz="1400"/>
            </a:pPr>
            <a:r>
              <a:t>axes[0].plot(months, sales, marker='o', linewidth=3, color='red',</a:t>
            </a:r>
          </a:p>
          <a:p>
            <a:pPr>
              <a:spcBef>
                <a:spcPts val="600"/>
              </a:spcBef>
              <a:defRPr sz="1400"/>
            </a:pPr>
            <a:r>
              <a:t>markersize=12)</a:t>
            </a:r>
          </a:p>
          <a:p>
            <a:pPr>
              <a:spcBef>
                <a:spcPts val="600"/>
              </a:spcBef>
              <a:defRPr sz="1400"/>
            </a:pPr>
            <a:r>
              <a:t>axes[0].set_title('BEFORE: High Extraneous Load', fontsize=14,</a:t>
            </a:r>
          </a:p>
          <a:p>
            <a:pPr>
              <a:spcBef>
                <a:spcPts val="600"/>
              </a:spcBef>
              <a:defRPr sz="1400"/>
            </a:pPr>
            <a:r>
              <a:t>fontweight='bold', color='darkred')</a:t>
            </a:r>
          </a:p>
          <a:p>
            <a:pPr>
              <a:spcBef>
                <a:spcPts val="600"/>
              </a:spcBef>
              <a:defRPr sz="1400"/>
            </a:pPr>
            <a:r>
              <a:t>axes[0].set_facecolor('#FFEEEE')  # Distracting background</a:t>
            </a:r>
          </a:p>
          <a:p>
            <a:pPr>
              <a:spcBef>
                <a:spcPts val="600"/>
              </a:spcBef>
              <a:defRPr sz="1400"/>
            </a:pPr>
            <a:r>
              <a:t>axes[0].grid(True, linewidth=2, color='blue')  # Heavy grid</a:t>
            </a:r>
          </a:p>
          <a:p>
            <a:pPr>
              <a:spcBef>
                <a:spcPts val="600"/>
              </a:spcBef>
              <a:defRPr sz="1400"/>
            </a:pPr>
            <a:r>
              <a:t>axes[0].spines['top'].set_linewidth(3)</a:t>
            </a:r>
          </a:p>
          <a:p>
            <a:pPr>
              <a:spcBef>
                <a:spcPts val="600"/>
              </a:spcBef>
              <a:defRPr sz="1400"/>
            </a:pPr>
            <a:r>
              <a:t>axes[0].spines['right'].set_linewidth(3)</a:t>
            </a:r>
          </a:p>
          <a:p>
            <a:pPr>
              <a:spcBef>
                <a:spcPts val="600"/>
              </a:spcBef>
              <a:defRPr sz="1400"/>
            </a:pPr>
            <a:r>
              <a:t>axes[0].spines['bottom'].set_linewidth(3)</a:t>
            </a:r>
          </a:p>
          <a:p>
            <a:pPr>
              <a:spcBef>
                <a:spcPts val="600"/>
              </a:spcBef>
              <a:defRPr sz="1400"/>
            </a:pPr>
            <a:r>
              <a:t>axes[0].spines['left'].set_linewidth(3)</a:t>
            </a:r>
          </a:p>
          <a:p>
            <a:pPr>
              <a:spcBef>
                <a:spcPts val="600"/>
              </a:spcBef>
              <a:defRPr sz="1400"/>
            </a:pPr>
            <a:r>
              <a:t># [OK] CLEAN (low extraneous load)</a:t>
            </a:r>
          </a:p>
          <a:p>
            <a:pPr>
              <a:spcBef>
                <a:spcPts val="600"/>
              </a:spcBef>
              <a:defRPr sz="1400"/>
            </a:pPr>
            <a:r>
              <a:t>axes[1].plot(months, sales, marker='o', linewidth=2, color='#2E86AB',</a:t>
            </a:r>
          </a:p>
          <a:p>
            <a:pPr>
              <a:spcBef>
                <a:spcPts val="600"/>
              </a:spcBef>
              <a:defRPr sz="1400"/>
            </a:pPr>
            <a:r>
              <a:t>markersize=7)</a:t>
            </a:r>
          </a:p>
          <a:p>
            <a:pPr>
              <a:spcBef>
                <a:spcPts val="600"/>
              </a:spcBef>
              <a:defRPr sz="1400"/>
            </a:pPr>
            <a:r>
              <a:t>axes[1].set_title('AFTER: Low Extraneous Load', fontsize=13)</a:t>
            </a:r>
          </a:p>
          <a:p>
            <a:pPr>
              <a:spcBef>
                <a:spcPts val="600"/>
              </a:spcBef>
              <a:defRPr sz="1400"/>
            </a:pPr>
            <a:r>
              <a:t>axes[1].set_xlabel('Month', fontsize=10)</a:t>
            </a:r>
          </a:p>
          <a:p>
            <a:pPr>
              <a:spcBef>
                <a:spcPts val="600"/>
              </a:spcBef>
              <a:defRPr sz="1400"/>
            </a:pPr>
            <a:r>
              <a:t>axes[1].set_ylabel('Sales ($)', fontsize=10)</a:t>
            </a:r>
          </a:p>
          <a:p>
            <a:pPr>
              <a:spcBef>
                <a:spcPts val="600"/>
              </a:spcBef>
              <a:defRPr sz="1400"/>
            </a:pPr>
            <a:r>
              <a:t>axes[1].spines['top'].set_visible(False)  # Remove clutter</a:t>
            </a:r>
          </a:p>
          <a:p>
            <a:pPr>
              <a:spcBef>
                <a:spcPts val="600"/>
              </a:spcBef>
              <a:defRPr sz="1400"/>
            </a:pPr>
            <a:r>
              <a:t>axes[1].spines['right'].set_visible(False)</a:t>
            </a:r>
          </a:p>
          <a:p>
            <a:pPr>
              <a:spcBef>
                <a:spcPts val="600"/>
              </a:spcBef>
              <a:defRPr sz="1400"/>
            </a:pPr>
            <a:r>
              <a:t>axes[1].grid(True, alpha=0.2, linestyle='--')  # Subtle grid</a:t>
            </a:r>
          </a:p>
          <a:p>
            <a:pPr>
              <a:spcBef>
                <a:spcPts val="600"/>
              </a:spcBef>
              <a:defRPr sz="1400"/>
            </a:pPr>
            <a:r>
              <a:t>plt.tight_layout()</a:t>
            </a:r>
          </a:p>
          <a:p>
            <a:pPr>
              <a:spcBef>
                <a:spcPts val="600"/>
              </a:spcBef>
              <a:defRPr sz="1400"/>
            </a:pPr>
            <a:r>
              <a:t>plt.show()</a:t>
            </a:r>
          </a:p>
          <a:p>
            <a:pPr>
              <a:spcBef>
                <a:spcPts val="600"/>
              </a:spcBef>
              <a:defRPr sz="1400"/>
            </a:pPr>
            <a:r>
              <a:t>```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Slide 59 – Direct Labeling vs. Legend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400"/>
            </a:pPr>
            <a:r>
              <a:t>Reduce cognitive load by eliminating legend lookup:</a:t>
            </a:r>
          </a:p>
          <a:p>
            <a:pPr>
              <a:spcBef>
                <a:spcPts val="600"/>
              </a:spcBef>
              <a:defRPr sz="1400"/>
            </a:pPr>
            <a:r>
              <a:t>```python</a:t>
            </a:r>
          </a:p>
          <a:p>
            <a:pPr>
              <a:spcBef>
                <a:spcPts val="600"/>
              </a:spcBef>
              <a:defRPr sz="1400"/>
            </a:pPr>
            <a:r>
              <a:t>import matplotlib.pyplot as plt</a:t>
            </a:r>
          </a:p>
          <a:p>
            <a:pPr>
              <a:spcBef>
                <a:spcPts val="600"/>
              </a:spcBef>
              <a:defRPr sz="1400"/>
            </a:pPr>
            <a:r>
              <a:t>months = ['Jan', 'Feb', 'Mar', 'Apr']</a:t>
            </a:r>
          </a:p>
          <a:p>
            <a:pPr>
              <a:spcBef>
                <a:spcPts val="600"/>
              </a:spcBef>
              <a:defRPr sz="1400"/>
            </a:pPr>
            <a:r>
              <a:t>product_a = [2500, 2700, 3000, 2900]</a:t>
            </a:r>
          </a:p>
          <a:p>
            <a:pPr>
              <a:spcBef>
                <a:spcPts val="600"/>
              </a:spcBef>
              <a:defRPr sz="1400"/>
            </a:pPr>
            <a:r>
              <a:t>product_b = [2200, 2400, 2600, 2500]</a:t>
            </a:r>
          </a:p>
          <a:p>
            <a:pPr>
              <a:spcBef>
                <a:spcPts val="600"/>
              </a:spcBef>
              <a:defRPr sz="1400"/>
            </a:pPr>
            <a:r>
              <a:t>product_c = [1800, 2000, 2200, 2100]</a:t>
            </a:r>
          </a:p>
          <a:p>
            <a:pPr>
              <a:spcBef>
                <a:spcPts val="600"/>
              </a:spcBef>
              <a:defRPr sz="1400"/>
            </a:pPr>
            <a:r>
              <a:t>fig, axes = plt.subplots(1, 2, figsize=(14, 5))</a:t>
            </a:r>
          </a:p>
          <a:p>
            <a:pPr>
              <a:spcBef>
                <a:spcPts val="600"/>
              </a:spcBef>
              <a:defRPr sz="1400"/>
            </a:pPr>
            <a:r>
              <a:t># WITH LEGEND (requires lookup - adds cognitive load)</a:t>
            </a:r>
          </a:p>
          <a:p>
            <a:pPr>
              <a:spcBef>
                <a:spcPts val="600"/>
              </a:spcBef>
              <a:defRPr sz="1400"/>
            </a:pPr>
            <a:r>
              <a:t>axes[0].plot(months, product_a, marker='o', label='Product A')</a:t>
            </a:r>
          </a:p>
          <a:p>
            <a:pPr>
              <a:spcBef>
                <a:spcPts val="600"/>
              </a:spcBef>
              <a:defRPr sz="1400"/>
            </a:pPr>
            <a:r>
              <a:t>axes[0].plot(months, product_b, marker='s', label='Product B')</a:t>
            </a:r>
          </a:p>
          <a:p>
            <a:pPr>
              <a:spcBef>
                <a:spcPts val="600"/>
              </a:spcBef>
              <a:defRPr sz="1400"/>
            </a:pPr>
            <a:r>
              <a:t>axes[0].plot(months, product_c, marker='^', label='Product C')</a:t>
            </a:r>
          </a:p>
          <a:p>
            <a:pPr>
              <a:spcBef>
                <a:spcPts val="600"/>
              </a:spcBef>
              <a:defRPr sz="1400"/>
            </a:pPr>
            <a:r>
              <a:t>axes[0].legend()</a:t>
            </a:r>
          </a:p>
          <a:p>
            <a:pPr>
              <a:spcBef>
                <a:spcPts val="600"/>
              </a:spcBef>
              <a:defRPr sz="1400"/>
            </a:pPr>
            <a:r>
              <a:t>axes[0].set_title('With Legend (More Cognitive Load)')</a:t>
            </a:r>
          </a:p>
          <a:p>
            <a:pPr>
              <a:spcBef>
                <a:spcPts val="600"/>
              </a:spcBef>
              <a:defRPr sz="1400"/>
            </a:pPr>
            <a:r>
              <a:t>axes[0].set_ylabel('Sales ($)')</a:t>
            </a:r>
          </a:p>
          <a:p>
            <a:pPr>
              <a:spcBef>
                <a:spcPts val="600"/>
              </a:spcBef>
              <a:defRPr sz="1400"/>
            </a:pPr>
            <a:r>
              <a:t># WITH DIRECT LABELS (immediate understanding)</a:t>
            </a:r>
          </a:p>
          <a:p>
            <a:pPr>
              <a:spcBef>
                <a:spcPts val="600"/>
              </a:spcBef>
              <a:defRPr sz="1400"/>
            </a:pPr>
            <a:r>
              <a:t>axes[1].plot(months, product_a, marker='o', color='#2E86AB')</a:t>
            </a:r>
          </a:p>
          <a:p>
            <a:pPr>
              <a:spcBef>
                <a:spcPts val="600"/>
              </a:spcBef>
              <a:defRPr sz="1400"/>
            </a:pPr>
            <a:r>
              <a:t>axes[1].plot(months, product_b, marker='s', color='#A23B72')</a:t>
            </a:r>
          </a:p>
          <a:p>
            <a:pPr>
              <a:spcBef>
                <a:spcPts val="600"/>
              </a:spcBef>
              <a:defRPr sz="1400"/>
            </a:pPr>
            <a:r>
              <a:t>axes[1].plot(months, product_c, marker='^', color='#F18F01')</a:t>
            </a:r>
          </a:p>
          <a:p>
            <a:pPr>
              <a:spcBef>
                <a:spcPts val="600"/>
              </a:spcBef>
              <a:defRPr sz="1400"/>
            </a:pPr>
            <a:r>
              <a:t># Add direct labels</a:t>
            </a:r>
          </a:p>
          <a:p>
            <a:pPr>
              <a:spcBef>
                <a:spcPts val="600"/>
              </a:spcBef>
              <a:defRPr sz="1400"/>
            </a:pPr>
            <a:r>
              <a:t>axes[1].text(3.05, product_a[-1], 'Product A', va='center', fontsize=10,</a:t>
            </a:r>
          </a:p>
          <a:p>
            <a:pPr>
              <a:spcBef>
                <a:spcPts val="600"/>
              </a:spcBef>
              <a:defRPr sz="1400"/>
            </a:pPr>
            <a:r>
              <a:t>color='#2E86AB', fontweight='bold')</a:t>
            </a:r>
          </a:p>
          <a:p>
            <a:pPr>
              <a:spcBef>
                <a:spcPts val="600"/>
              </a:spcBef>
              <a:defRPr sz="1400"/>
            </a:pPr>
            <a:r>
              <a:t>axes[1].text(3.05, product_b[-1], 'Product B', va='center', fontsize=10,</a:t>
            </a:r>
          </a:p>
          <a:p>
            <a:pPr>
              <a:spcBef>
                <a:spcPts val="600"/>
              </a:spcBef>
              <a:defRPr sz="1400"/>
            </a:pPr>
            <a:r>
              <a:t>color='#A23B72', fontweight='bold')</a:t>
            </a:r>
          </a:p>
          <a:p>
            <a:pPr>
              <a:spcBef>
                <a:spcPts val="600"/>
              </a:spcBef>
              <a:defRPr sz="1400"/>
            </a:pPr>
            <a:r>
              <a:t>axes[1].text(3.05, product_c[-1], 'Product C', va='center', fontsize=10,</a:t>
            </a:r>
          </a:p>
          <a:p>
            <a:pPr>
              <a:spcBef>
                <a:spcPts val="600"/>
              </a:spcBef>
              <a:defRPr sz="1400"/>
            </a:pPr>
            <a:r>
              <a:t>color='#F18F01', fontweight='bold')</a:t>
            </a:r>
          </a:p>
          <a:p>
            <a:pPr>
              <a:spcBef>
                <a:spcPts val="600"/>
              </a:spcBef>
              <a:defRPr sz="1400"/>
            </a:pPr>
            <a:r>
              <a:t>axes[1].set_title('With Direct Labels (Less Cognitive Load)')</a:t>
            </a:r>
          </a:p>
          <a:p>
            <a:pPr>
              <a:spcBef>
                <a:spcPts val="600"/>
              </a:spcBef>
              <a:defRPr sz="1400"/>
            </a:pPr>
            <a:r>
              <a:t>axes[1].set_ylabel('Sales ($)')</a:t>
            </a:r>
          </a:p>
          <a:p>
            <a:pPr>
              <a:spcBef>
                <a:spcPts val="600"/>
              </a:spcBef>
              <a:defRPr sz="1400"/>
            </a:pPr>
            <a:r>
              <a:t>axes[1].set_xlim(-0.2, 3.8)</a:t>
            </a:r>
          </a:p>
          <a:p>
            <a:pPr>
              <a:spcBef>
                <a:spcPts val="600"/>
              </a:spcBef>
              <a:defRPr sz="1400"/>
            </a:pPr>
            <a:r>
              <a:t>plt.tight_layout()</a:t>
            </a:r>
          </a:p>
          <a:p>
            <a:pPr>
              <a:spcBef>
                <a:spcPts val="600"/>
              </a:spcBef>
              <a:defRPr sz="1400"/>
            </a:pPr>
            <a:r>
              <a:t>plt.show()</a:t>
            </a:r>
          </a:p>
          <a:p>
            <a:pPr>
              <a:spcBef>
                <a:spcPts val="600"/>
              </a:spcBef>
              <a:defRPr sz="1400"/>
            </a:pPr>
            <a:r>
              <a:t>```</a:t>
            </a:r>
          </a:p>
          <a:p>
            <a:pPr>
              <a:spcBef>
                <a:spcPts val="600"/>
              </a:spcBef>
              <a:defRPr sz="1400"/>
            </a:pPr>
            <a:r>
              <a:t>Principle: Direct labeling reduces the need to constantly refer back to legend.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Slide 60 – Exercise: Bar Chart vs. Pie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400"/>
            </a:pPr>
            <a:r>
              <a:t>Implementing Cleveland &amp; McGill's findings:</a:t>
            </a:r>
          </a:p>
          <a:p>
            <a:pPr>
              <a:spcBef>
                <a:spcPts val="600"/>
              </a:spcBef>
              <a:defRPr sz="1400"/>
            </a:pPr>
            <a:r>
              <a:t>```python</a:t>
            </a:r>
          </a:p>
          <a:p>
            <a:pPr>
              <a:spcBef>
                <a:spcPts val="600"/>
              </a:spcBef>
              <a:defRPr sz="1400"/>
            </a:pPr>
            <a:r>
              <a:t>import matplotlib.pyplot as plt</a:t>
            </a:r>
          </a:p>
          <a:p>
            <a:pPr>
              <a:spcBef>
                <a:spcPts val="600"/>
              </a:spcBef>
              <a:defRPr sz="1400"/>
            </a:pPr>
            <a:r>
              <a:t># Data</a:t>
            </a:r>
          </a:p>
          <a:p>
            <a:pPr>
              <a:spcBef>
                <a:spcPts val="600"/>
              </a:spcBef>
              <a:defRPr sz="1400"/>
            </a:pPr>
            <a:r>
              <a:t>categories = ['North', 'South', 'East', 'West', 'Central']</a:t>
            </a:r>
          </a:p>
          <a:p>
            <a:pPr>
              <a:spcBef>
                <a:spcPts val="600"/>
              </a:spcBef>
              <a:defRPr sz="1400"/>
            </a:pPr>
            <a:r>
              <a:t>values = [25, 22, 18, 20, 15]</a:t>
            </a:r>
          </a:p>
          <a:p>
            <a:pPr>
              <a:spcBef>
                <a:spcPts val="600"/>
              </a:spcBef>
              <a:defRPr sz="1400"/>
            </a:pPr>
            <a:r>
              <a:t>fig, axes = plt.subplots(1, 2, figsize=(14, 5))</a:t>
            </a:r>
          </a:p>
          <a:p>
            <a:pPr>
              <a:spcBef>
                <a:spcPts val="600"/>
              </a:spcBef>
              <a:defRPr sz="1400"/>
            </a:pPr>
            <a:r>
              <a:t># PIE CHART (uses angle - weak encoding)</a:t>
            </a:r>
          </a:p>
          <a:p>
            <a:pPr>
              <a:spcBef>
                <a:spcPts val="600"/>
              </a:spcBef>
              <a:defRPr sz="1400"/>
            </a:pPr>
            <a:r>
              <a:t>axes[0].pie(values, labels=categories, autopct='%1.1f%%', startangle=90)</a:t>
            </a:r>
          </a:p>
          <a:p>
            <a:pPr>
              <a:spcBef>
                <a:spcPts val="600"/>
              </a:spcBef>
              <a:defRPr sz="1400"/>
            </a:pPr>
            <a:r>
              <a:t>axes[0].set_title('Pie Chart: Angle Encoding\n(Harder to Compare)')</a:t>
            </a:r>
          </a:p>
          <a:p>
            <a:pPr>
              <a:spcBef>
                <a:spcPts val="600"/>
              </a:spcBef>
              <a:defRPr sz="1400"/>
            </a:pPr>
            <a:r>
              <a:t># BAR CHART (uses position - strong encoding)</a:t>
            </a:r>
          </a:p>
          <a:p>
            <a:pPr>
              <a:spcBef>
                <a:spcPts val="600"/>
              </a:spcBef>
              <a:defRPr sz="1400"/>
            </a:pPr>
            <a:r>
              <a:t>axes[1].barh(categories, values, color='steelblue')</a:t>
            </a:r>
          </a:p>
          <a:p>
            <a:pPr>
              <a:spcBef>
                <a:spcPts val="600"/>
              </a:spcBef>
              <a:defRPr sz="1400"/>
            </a:pPr>
            <a:r>
              <a:t>axes[1].set_xlabel('Sales (%)')</a:t>
            </a:r>
          </a:p>
          <a:p>
            <a:pPr>
              <a:spcBef>
                <a:spcPts val="600"/>
              </a:spcBef>
              <a:defRPr sz="1400"/>
            </a:pPr>
            <a:r>
              <a:t>axes[1].set_title('Bar Chart: Position Encoding\n(Easier to Compare)')</a:t>
            </a:r>
          </a:p>
          <a:p>
            <a:pPr>
              <a:spcBef>
                <a:spcPts val="600"/>
              </a:spcBef>
              <a:defRPr sz="1400"/>
            </a:pPr>
            <a:r>
              <a:t>axes[1].spines['top'].set_visible(False)</a:t>
            </a:r>
          </a:p>
          <a:p>
            <a:pPr>
              <a:spcBef>
                <a:spcPts val="600"/>
              </a:spcBef>
              <a:defRPr sz="1400"/>
            </a:pPr>
            <a:r>
              <a:t>axes[1].spines['right'].set_visible(False)</a:t>
            </a:r>
          </a:p>
          <a:p>
            <a:pPr>
              <a:spcBef>
                <a:spcPts val="600"/>
              </a:spcBef>
              <a:defRPr sz="1400"/>
            </a:pPr>
            <a:r>
              <a:t># Add value labels</a:t>
            </a:r>
          </a:p>
          <a:p>
            <a:pPr>
              <a:spcBef>
                <a:spcPts val="600"/>
              </a:spcBef>
              <a:defRPr sz="1400"/>
            </a:pPr>
            <a:r>
              <a:t>for i, v in enumerate(values):</a:t>
            </a:r>
          </a:p>
          <a:p>
            <a:pPr>
              <a:spcBef>
                <a:spcPts val="600"/>
              </a:spcBef>
              <a:defRPr sz="1400"/>
            </a:pPr>
            <a:r>
              <a:t>axes[1].text(v + 0.5, i, str(v) + '%', va='center')</a:t>
            </a:r>
          </a:p>
          <a:p>
            <a:pPr>
              <a:spcBef>
                <a:spcPts val="600"/>
              </a:spcBef>
              <a:defRPr sz="1400"/>
            </a:pPr>
            <a:r>
              <a:t>plt.tight_layout()</a:t>
            </a:r>
          </a:p>
          <a:p>
            <a:pPr>
              <a:spcBef>
                <a:spcPts val="600"/>
              </a:spcBef>
              <a:defRPr sz="1400"/>
            </a:pPr>
            <a:r>
              <a:t>plt.show()</a:t>
            </a:r>
          </a:p>
          <a:p>
            <a:pPr>
              <a:spcBef>
                <a:spcPts val="600"/>
              </a:spcBef>
              <a:defRPr sz="1400"/>
            </a:pPr>
            <a:r>
              <a:t>```</a:t>
            </a:r>
          </a:p>
          <a:p>
            <a:pPr>
              <a:spcBef>
                <a:spcPts val="600"/>
              </a:spcBef>
              <a:defRPr sz="1400"/>
            </a:pPr>
            <a:r>
              <a:t>Question: Which makes it easier to see that North &gt; South &gt; West?</a:t>
            </a:r>
          </a:p>
          <a:p>
            <a:pPr>
              <a:spcBef>
                <a:spcPts val="600"/>
              </a:spcBef>
              <a:defRPr sz="1400"/>
            </a:pPr>
            <a:r>
              <a:t>Answer: Bar chart (position is more accurate than angle)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Slide 61 – Putting It All Together: Complete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400"/>
            </a:pPr>
            <a:r>
              <a:t>Building a perceptually-optimized visualization from scratch:</a:t>
            </a:r>
          </a:p>
          <a:p>
            <a:pPr>
              <a:spcBef>
                <a:spcPts val="600"/>
              </a:spcBef>
              <a:defRPr sz="1400"/>
            </a:pPr>
            <a:r>
              <a:t>```python</a:t>
            </a:r>
          </a:p>
          <a:p>
            <a:pPr>
              <a:spcBef>
                <a:spcPts val="600"/>
              </a:spcBef>
              <a:defRPr sz="1400"/>
            </a:pPr>
            <a:r>
              <a:t>import pandas as pd</a:t>
            </a:r>
          </a:p>
          <a:p>
            <a:pPr>
              <a:spcBef>
                <a:spcPts val="600"/>
              </a:spcBef>
              <a:defRPr sz="1400"/>
            </a:pPr>
            <a:r>
              <a:t>import matplotlib.pyplot as plt</a:t>
            </a:r>
          </a:p>
          <a:p>
            <a:pPr>
              <a:spcBef>
                <a:spcPts val="600"/>
              </a:spcBef>
              <a:defRPr sz="1400"/>
            </a:pPr>
            <a:r>
              <a:t>import seaborn as sns</a:t>
            </a:r>
          </a:p>
          <a:p>
            <a:pPr>
              <a:spcBef>
                <a:spcPts val="600"/>
              </a:spcBef>
              <a:defRPr sz="1400"/>
            </a:pPr>
            <a:r>
              <a:t># Sample data</a:t>
            </a:r>
          </a:p>
          <a:p>
            <a:pPr>
              <a:spcBef>
                <a:spcPts val="600"/>
              </a:spcBef>
              <a:defRPr sz="1400"/>
            </a:pPr>
            <a:r>
              <a:t>data = pd.DataFrame({</a:t>
            </a:r>
          </a:p>
          <a:p>
            <a:pPr>
              <a:spcBef>
                <a:spcPts val="600"/>
              </a:spcBef>
              <a:defRPr sz="1400"/>
            </a:pPr>
            <a:r>
              <a:t>'Quarter': ['Q1', 'Q2', 'Q3', 'Q4'] * 3,</a:t>
            </a:r>
          </a:p>
          <a:p>
            <a:pPr>
              <a:spcBef>
                <a:spcPts val="600"/>
              </a:spcBef>
              <a:defRPr sz="1400"/>
            </a:pPr>
            <a:r>
              <a:t>'Revenue': [450, 480, 520, 490, 470, 510, 560, 540, 490, 530, 580, 560],</a:t>
            </a:r>
          </a:p>
          <a:p>
            <a:pPr>
              <a:spcBef>
                <a:spcPts val="600"/>
              </a:spcBef>
              <a:defRPr sz="1400"/>
            </a:pPr>
            <a:r>
              <a:t>'Year': ['2024']4 + ['2025']4 + ['2026']*4</a:t>
            </a:r>
          </a:p>
          <a:p>
            <a:pPr>
              <a:spcBef>
                <a:spcPts val="600"/>
              </a:spcBef>
              <a:defRPr sz="1400"/>
            </a:pPr>
            <a:r>
              <a:t>})</a:t>
            </a:r>
          </a:p>
          <a:p>
            <a:pPr>
              <a:spcBef>
                <a:spcPts val="600"/>
              </a:spcBef>
              <a:defRPr sz="1400"/>
            </a:pPr>
            <a:r>
              <a:t># Apply all principles</a:t>
            </a:r>
          </a:p>
          <a:p>
            <a:pPr>
              <a:spcBef>
                <a:spcPts val="600"/>
              </a:spcBef>
              <a:defRPr sz="1400"/>
            </a:pPr>
            <a:r>
              <a:t>sns.set_style("whitegrid", {'grid.linestyle': '--', 'grid.alpha': 0.3})</a:t>
            </a:r>
          </a:p>
          <a:p>
            <a:pPr>
              <a:spcBef>
                <a:spcPts val="600"/>
              </a:spcBef>
              <a:defRPr sz="1400"/>
            </a:pPr>
            <a:r>
              <a:t>fig, ax = plt.subplots(figsize=(10, 6))</a:t>
            </a:r>
          </a:p>
          <a:p>
            <a:pPr>
              <a:spcBef>
                <a:spcPts val="600"/>
              </a:spcBef>
              <a:defRPr sz="1400"/>
            </a:pPr>
            <a:r>
              <a:t># Use position encoding (best for quantitative)</a:t>
            </a:r>
          </a:p>
          <a:p>
            <a:pPr>
              <a:spcBef>
                <a:spcPts val="600"/>
              </a:spcBef>
              <a:defRPr sz="1400"/>
            </a:pPr>
            <a:r>
              <a:t>sns.lineplot(data=data, x='Quarter', y='Revenue', hue='Year',</a:t>
            </a:r>
          </a:p>
          <a:p>
            <a:pPr>
              <a:spcBef>
                <a:spcPts val="600"/>
              </a:spcBef>
              <a:defRPr sz="1400"/>
            </a:pPr>
            <a:r>
              <a:t>marker='o', linewidth=2.5, palette=['#CCCCCC', '#999999', '#E63946'],</a:t>
            </a:r>
          </a:p>
          <a:p>
            <a:pPr>
              <a:spcBef>
                <a:spcPts val="600"/>
              </a:spcBef>
              <a:defRPr sz="1400"/>
            </a:pPr>
            <a:r>
              <a:t>ax=ax)</a:t>
            </a:r>
          </a:p>
          <a:p>
            <a:pPr>
              <a:spcBef>
                <a:spcPts val="600"/>
              </a:spcBef>
              <a:defRPr sz="1400"/>
            </a:pPr>
            <a:r>
              <a:t># Clear, direct labels</a:t>
            </a:r>
          </a:p>
          <a:p>
            <a:pPr>
              <a:spcBef>
                <a:spcPts val="600"/>
              </a:spcBef>
              <a:defRPr sz="1400"/>
            </a:pPr>
            <a:r>
              <a:t>ax.set_xlabel('Quarter', fontsize=12)</a:t>
            </a:r>
          </a:p>
          <a:p>
            <a:pPr>
              <a:spcBef>
                <a:spcPts val="600"/>
              </a:spcBef>
              <a:defRPr sz="1400"/>
            </a:pPr>
            <a:r>
              <a:t>ax.set_ylabel('Revenue ($K)', fontsize=12)</a:t>
            </a:r>
          </a:p>
          <a:p>
            <a:pPr>
              <a:spcBef>
                <a:spcPts val="600"/>
              </a:spcBef>
              <a:defRPr sz="1400"/>
            </a:pPr>
            <a:r>
              <a:t>ax.set_title('Quarterly Revenue Growth 2024-2026\n2026 Shows Strong Performance',</a:t>
            </a:r>
          </a:p>
          <a:p>
            <a:pPr>
              <a:spcBef>
                <a:spcPts val="600"/>
              </a:spcBef>
              <a:defRPr sz="1400"/>
            </a:pPr>
            <a:r>
              <a:t>fontsize=14, fontweight='bold', pad=20)</a:t>
            </a:r>
          </a:p>
          <a:p>
            <a:pPr>
              <a:spcBef>
                <a:spcPts val="600"/>
              </a:spcBef>
              <a:defRPr sz="1400"/>
            </a:pPr>
            <a:r>
              <a:t># Reduce extraneous load</a:t>
            </a:r>
          </a:p>
          <a:p>
            <a:pPr>
              <a:spcBef>
                <a:spcPts val="600"/>
              </a:spcBef>
              <a:defRPr sz="1400"/>
            </a:pPr>
            <a:r>
              <a:t>ax.spines['top'].set_visible(False)</a:t>
            </a:r>
          </a:p>
          <a:p>
            <a:pPr>
              <a:spcBef>
                <a:spcPts val="600"/>
              </a:spcBef>
              <a:defRPr sz="1400"/>
            </a:pPr>
            <a:r>
              <a:t>ax.spines['right'].set_visible(False)</a:t>
            </a:r>
          </a:p>
          <a:p>
            <a:pPr>
              <a:spcBef>
                <a:spcPts val="600"/>
              </a:spcBef>
              <a:defRPr sz="1400"/>
            </a:pPr>
            <a:r>
              <a:t>ax.legend(title='Year', frameon=False, loc='upper left')</a:t>
            </a:r>
          </a:p>
          <a:p>
            <a:pPr>
              <a:spcBef>
                <a:spcPts val="600"/>
              </a:spcBef>
              <a:defRPr sz="1400"/>
            </a:pPr>
            <a:r>
              <a:t># Add annotation for insight</a:t>
            </a:r>
          </a:p>
          <a:p>
            <a:pPr>
              <a:spcBef>
                <a:spcPts val="600"/>
              </a:spcBef>
              <a:defRPr sz="1400"/>
            </a:pPr>
            <a:r>
              <a:t>ax.annotate('Best Quarter', xy=('Q3', 580), xytext=('Q4', 595),</a:t>
            </a:r>
          </a:p>
          <a:p>
            <a:pPr>
              <a:spcBef>
                <a:spcPts val="600"/>
              </a:spcBef>
              <a:defRPr sz="1400"/>
            </a:pPr>
            <a:r>
              <a:t>arrowprops=dict(arrowstyle='-&gt;', color='#E63946', lw=2),</a:t>
            </a:r>
          </a:p>
          <a:p>
            <a:pPr>
              <a:spcBef>
                <a:spcPts val="600"/>
              </a:spcBef>
              <a:defRPr sz="1400"/>
            </a:pPr>
            <a:r>
              <a:t>fontsize=10, color='#E63946', fontweight='bold')</a:t>
            </a:r>
          </a:p>
          <a:p>
            <a:pPr>
              <a:spcBef>
                <a:spcPts val="600"/>
              </a:spcBef>
              <a:defRPr sz="1400"/>
            </a:pPr>
            <a:r>
              <a:t>plt.tight_layout()</a:t>
            </a:r>
          </a:p>
          <a:p>
            <a:pPr>
              <a:spcBef>
                <a:spcPts val="600"/>
              </a:spcBef>
              <a:defRPr sz="1400"/>
            </a:pPr>
            <a:r>
              <a:t>plt.show()</a:t>
            </a:r>
          </a:p>
          <a:p>
            <a:pPr>
              <a:spcBef>
                <a:spcPts val="600"/>
              </a:spcBef>
              <a:defRPr sz="1400"/>
            </a:pPr>
            <a:r>
              <a:t>```</a:t>
            </a:r>
          </a:p>
          <a:p>
            <a:pPr>
              <a:spcBef>
                <a:spcPts val="600"/>
              </a:spcBef>
              <a:defRPr sz="1400"/>
            </a:pPr>
            <a:r>
              <a:t>Principles applied: Position encoding, color for emphasis, reduced clutter, direct annotation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Slide 62 – Common Mistakes to Avoid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400"/>
            </a:pPr>
            <a:r>
              <a:t>Real-world examples of what NOT to do:</a:t>
            </a:r>
          </a:p>
          <a:p>
            <a:pPr>
              <a:spcBef>
                <a:spcPts val="600"/>
              </a:spcBef>
              <a:defRPr sz="1400"/>
            </a:pPr>
            <a:r>
              <a:t>1. [X] Too many colors - Rainbow schemes for categories</a:t>
            </a:r>
          </a:p>
          <a:p>
            <a:pPr>
              <a:spcBef>
                <a:spcPts val="600"/>
              </a:spcBef>
              <a:defRPr sz="1400"/>
            </a:pPr>
            <a:r>
              <a:t>2. [X] 3D without purpose - Distorts perception</a:t>
            </a:r>
          </a:p>
          <a:p>
            <a:pPr>
              <a:spcBef>
                <a:spcPts val="600"/>
              </a:spcBef>
              <a:defRPr sz="1400"/>
            </a:pPr>
            <a:r>
              <a:t>3. [X] Dual Y-axes - Misleading comparisons</a:t>
            </a:r>
          </a:p>
          <a:p>
            <a:pPr>
              <a:spcBef>
                <a:spcPts val="600"/>
              </a:spcBef>
              <a:defRPr sz="1400"/>
            </a:pPr>
            <a:r>
              <a:t>4. [X] Truncated axes - Exaggerates differences</a:t>
            </a:r>
          </a:p>
          <a:p>
            <a:pPr>
              <a:spcBef>
                <a:spcPts val="600"/>
              </a:spcBef>
              <a:defRPr sz="1400"/>
            </a:pPr>
            <a:r>
              <a:t>5. [X] Pie charts with 10+ slices - Impossible to compare</a:t>
            </a:r>
          </a:p>
          <a:p>
            <a:pPr>
              <a:spcBef>
                <a:spcPts val="600"/>
              </a:spcBef>
              <a:defRPr sz="1400"/>
            </a:pPr>
            <a:r>
              <a:t>6. [X] Busy backgrounds - Distracts from data</a:t>
            </a:r>
          </a:p>
          <a:p>
            <a:pPr>
              <a:spcBef>
                <a:spcPts val="600"/>
              </a:spcBef>
              <a:defRPr sz="1400"/>
            </a:pPr>
            <a:r>
              <a:t>7. [X] Tiny fonts - Can't read = won't use</a:t>
            </a:r>
          </a:p>
          <a:p>
            <a:pPr>
              <a:spcBef>
                <a:spcPts val="600"/>
              </a:spcBef>
              <a:defRPr sz="1400"/>
            </a:pPr>
            <a:r>
              <a:t>8. [X] No labels - Forces guessing</a:t>
            </a:r>
          </a:p>
          <a:p>
            <a:pPr>
              <a:spcBef>
                <a:spcPts val="600"/>
              </a:spcBef>
              <a:defRPr sz="1400"/>
            </a:pPr>
            <a:r>
              <a:t>Remember: Every element should serve the data and the user's task!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Slide 63 – Visualization Design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400"/>
            </a:pPr>
            <a:r>
              <a:t>Before finalizing any visualization, ask:</a:t>
            </a:r>
          </a:p>
          <a:p>
            <a:pPr>
              <a:spcBef>
                <a:spcPts val="600"/>
              </a:spcBef>
              <a:defRPr sz="1400"/>
            </a:pPr>
            <a:r>
              <a:t>1. Data &amp; Task</a:t>
            </a:r>
          </a:p>
          <a:p>
            <a:pPr>
              <a:spcBef>
                <a:spcPts val="600"/>
              </a:spcBef>
              <a:defRPr sz="1400"/>
            </a:pPr>
            <a:r>
              <a:t>□ What data type am I showing?</a:t>
            </a:r>
          </a:p>
          <a:p>
            <a:pPr>
              <a:spcBef>
                <a:spcPts val="600"/>
              </a:spcBef>
              <a:defRPr sz="1400"/>
            </a:pPr>
            <a:r>
              <a:t>□ What task does the user need to perform?</a:t>
            </a:r>
          </a:p>
          <a:p>
            <a:pPr>
              <a:spcBef>
                <a:spcPts val="600"/>
              </a:spcBef>
              <a:defRPr sz="1400"/>
            </a:pPr>
            <a:r>
              <a:t>□ Is this the right chart for the task?</a:t>
            </a:r>
          </a:p>
          <a:p>
            <a:pPr>
              <a:spcBef>
                <a:spcPts val="600"/>
              </a:spcBef>
              <a:defRPr sz="1400"/>
            </a:pPr>
            <a:r>
              <a:t>2. Perception</a:t>
            </a:r>
          </a:p>
          <a:p>
            <a:pPr>
              <a:spcBef>
                <a:spcPts val="600"/>
              </a:spcBef>
              <a:defRPr sz="1400"/>
            </a:pPr>
            <a:r>
              <a:t>□ Am I using the most effective encoding?</a:t>
            </a:r>
          </a:p>
          <a:p>
            <a:pPr>
              <a:spcBef>
                <a:spcPts val="600"/>
              </a:spcBef>
              <a:defRPr sz="1400"/>
            </a:pPr>
            <a:r>
              <a:t>□ Are preattentive features highlighting what matters?</a:t>
            </a:r>
          </a:p>
          <a:p>
            <a:pPr>
              <a:spcBef>
                <a:spcPts val="600"/>
              </a:spcBef>
              <a:defRPr sz="1400"/>
            </a:pPr>
            <a:r>
              <a:t>□ Can users see the pattern in &lt; 5 seconds?</a:t>
            </a:r>
          </a:p>
          <a:p>
            <a:pPr>
              <a:spcBef>
                <a:spcPts val="600"/>
              </a:spcBef>
              <a:defRPr sz="1400"/>
            </a:pPr>
            <a:r>
              <a:t>3. Cognitive Load</a:t>
            </a:r>
          </a:p>
          <a:p>
            <a:pPr>
              <a:spcBef>
                <a:spcPts val="600"/>
              </a:spcBef>
              <a:defRPr sz="1400"/>
            </a:pPr>
            <a:r>
              <a:t>□ Have I removed all chart junk?</a:t>
            </a:r>
          </a:p>
          <a:p>
            <a:pPr>
              <a:spcBef>
                <a:spcPts val="600"/>
              </a:spcBef>
              <a:defRPr sz="1400"/>
            </a:pPr>
            <a:r>
              <a:t>□ Is the visual hierarchy clear?</a:t>
            </a:r>
          </a:p>
          <a:p>
            <a:pPr>
              <a:spcBef>
                <a:spcPts val="600"/>
              </a:spcBef>
              <a:defRPr sz="1400"/>
            </a:pPr>
            <a:r>
              <a:t>□ Are labels direct and clear?</a:t>
            </a:r>
          </a:p>
          <a:p>
            <a:pPr>
              <a:spcBef>
                <a:spcPts val="600"/>
              </a:spcBef>
              <a:defRPr sz="1400"/>
            </a:pPr>
            <a:r>
              <a:t>4. Accessibility</a:t>
            </a:r>
          </a:p>
          <a:p>
            <a:pPr>
              <a:spcBef>
                <a:spcPts val="600"/>
              </a:spcBef>
              <a:defRPr sz="1400"/>
            </a:pPr>
            <a:r>
              <a:t>□ Is it colorblind-friendly?</a:t>
            </a:r>
          </a:p>
          <a:p>
            <a:pPr>
              <a:spcBef>
                <a:spcPts val="600"/>
              </a:spcBef>
              <a:defRPr sz="1400"/>
            </a:pPr>
            <a:r>
              <a:t>□ Are fonts large enough?</a:t>
            </a:r>
          </a:p>
          <a:p>
            <a:pPr>
              <a:spcBef>
                <a:spcPts val="600"/>
              </a:spcBef>
              <a:defRPr sz="1400"/>
            </a:pPr>
            <a:r>
              <a:t>□ Does it work in grayscale?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Slide 64 – Exercise 1: Critique This Visualization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400"/>
            </a:pPr>
            <a:r>
              <a:t>Task: Identify all perception and cognitive load issues</a:t>
            </a:r>
          </a:p>
          <a:p>
            <a:pPr>
              <a:spcBef>
                <a:spcPts val="600"/>
              </a:spcBef>
              <a:defRPr sz="1400"/>
            </a:pPr>
            <a:r>
              <a:t>```</a:t>
            </a:r>
          </a:p>
          <a:p>
            <a:pPr>
              <a:spcBef>
                <a:spcPts val="600"/>
              </a:spcBef>
              <a:defRPr sz="1400"/>
            </a:pPr>
            <a:r>
              <a:t>[Show intentionally bad visualization with multiple issues]</a:t>
            </a:r>
          </a:p>
          <a:p>
            <a:pPr>
              <a:spcBef>
                <a:spcPts val="600"/>
              </a:spcBef>
              <a:defRPr sz="1400"/>
            </a:pPr>
            <a:r>
              <a:t>```</a:t>
            </a:r>
          </a:p>
          <a:p>
            <a:pPr>
              <a:spcBef>
                <a:spcPts val="600"/>
              </a:spcBef>
              <a:defRPr sz="1400"/>
            </a:pPr>
            <a:r>
              <a:t>Issues to find:</a:t>
            </a:r>
          </a:p>
          <a:p>
            <a:pPr>
              <a:spcBef>
                <a:spcPts val="600"/>
              </a:spcBef>
              <a:defRPr sz="1400"/>
            </a:pPr>
            <a:r>
              <a:t>1. Encoding problems</a:t>
            </a:r>
          </a:p>
          <a:p>
            <a:pPr>
              <a:spcBef>
                <a:spcPts val="600"/>
              </a:spcBef>
              <a:defRPr sz="1400"/>
            </a:pPr>
            <a:r>
              <a:t>2. Cognitive load violations</a:t>
            </a:r>
          </a:p>
          <a:p>
            <a:pPr>
              <a:spcBef>
                <a:spcPts val="600"/>
              </a:spcBef>
              <a:defRPr sz="1400"/>
            </a:pPr>
            <a:r>
              <a:t>3. Gestalt principle violations</a:t>
            </a:r>
          </a:p>
          <a:p>
            <a:pPr>
              <a:spcBef>
                <a:spcPts val="600"/>
              </a:spcBef>
              <a:defRPr sz="1400"/>
            </a:pPr>
            <a:r>
              <a:t>4. Color usage problems</a:t>
            </a:r>
          </a:p>
          <a:p>
            <a:pPr>
              <a:spcBef>
                <a:spcPts val="600"/>
              </a:spcBef>
              <a:defRPr sz="1400"/>
            </a:pPr>
            <a:r>
              <a:t>5. Missing context</a:t>
            </a:r>
          </a:p>
          <a:p>
            <a:pPr>
              <a:spcBef>
                <a:spcPts val="600"/>
              </a:spcBef>
              <a:defRPr sz="1400"/>
            </a:pPr>
            <a:r>
              <a:t>Work in pairs: 5 minutes to list all issues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Slide 65 – Exercise 2: Redesign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400"/>
            </a:pPr>
            <a:r>
              <a:t>Given: Bad dashboard with high cognitive load</a:t>
            </a:r>
          </a:p>
          <a:p>
            <a:pPr>
              <a:spcBef>
                <a:spcPts val="600"/>
              </a:spcBef>
              <a:defRPr sz="1400"/>
            </a:pPr>
            <a:r>
              <a:t>Your task:</a:t>
            </a:r>
          </a:p>
          <a:p>
            <a:pPr>
              <a:spcBef>
                <a:spcPts val="600"/>
              </a:spcBef>
              <a:defRPr sz="1400"/>
            </a:pPr>
            <a:r>
              <a:t>1. List all sources of extraneous load</a:t>
            </a:r>
          </a:p>
          <a:p>
            <a:pPr>
              <a:spcBef>
                <a:spcPts val="600"/>
              </a:spcBef>
              <a:defRPr sz="1400"/>
            </a:pPr>
            <a:r>
              <a:t>2. Propose a redesigned layout</a:t>
            </a:r>
          </a:p>
          <a:p>
            <a:pPr>
              <a:spcBef>
                <a:spcPts val="600"/>
              </a:spcBef>
              <a:defRPr sz="1400"/>
            </a:pPr>
            <a:r>
              <a:t>3. Justify your encoding choices</a:t>
            </a:r>
          </a:p>
          <a:p>
            <a:pPr>
              <a:spcBef>
                <a:spcPts val="600"/>
              </a:spcBef>
              <a:defRPr sz="1400"/>
            </a:pPr>
            <a:r>
              <a:t>4. Apply Gestalt principles</a:t>
            </a:r>
          </a:p>
          <a:p>
            <a:pPr>
              <a:spcBef>
                <a:spcPts val="600"/>
              </a:spcBef>
              <a:defRPr sz="1400"/>
            </a:pPr>
            <a:r>
              <a:t>Deliverable: Sketch or code the improved version</a:t>
            </a:r>
          </a:p>
          <a:p>
            <a:pPr>
              <a:spcBef>
                <a:spcPts val="600"/>
              </a:spcBef>
              <a:defRPr sz="1400"/>
            </a:pPr>
            <a:r>
              <a:t>Time: 15 minutes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Slide 66 – Exercise 3: Build a Grammar-Based Plot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400"/>
            </a:pPr>
            <a:r>
              <a:t>Task: Create a visualization using Grammar of Graphics thinking</a:t>
            </a:r>
          </a:p>
          <a:p>
            <a:pPr>
              <a:spcBef>
                <a:spcPts val="600"/>
              </a:spcBef>
              <a:defRPr sz="1400"/>
            </a:pPr>
            <a:r>
              <a:t>Dataset: Sales by product, region, and quarter</a:t>
            </a:r>
          </a:p>
          <a:p>
            <a:pPr>
              <a:spcBef>
                <a:spcPts val="600"/>
              </a:spcBef>
              <a:defRPr sz="1400"/>
            </a:pPr>
            <a:r>
              <a:t>Requirements:</a:t>
            </a:r>
          </a:p>
          <a:p>
            <a:pPr>
              <a:spcBef>
                <a:spcPts val="600"/>
              </a:spcBef>
              <a:defRPr sz="1400"/>
            </a:pPr>
            <a:r>
              <a:t>1. Define your data mappings (aesthetics)</a:t>
            </a:r>
          </a:p>
          <a:p>
            <a:pPr>
              <a:spcBef>
                <a:spcPts val="600"/>
              </a:spcBef>
              <a:defRPr sz="1400"/>
            </a:pPr>
            <a:r>
              <a:t>2. Choose appropriate geom</a:t>
            </a:r>
          </a:p>
          <a:p>
            <a:pPr>
              <a:spcBef>
                <a:spcPts val="600"/>
              </a:spcBef>
              <a:defRPr sz="1400"/>
            </a:pPr>
            <a:r>
              <a:t>3. Consider statistical transformation</a:t>
            </a:r>
          </a:p>
          <a:p>
            <a:pPr>
              <a:spcBef>
                <a:spcPts val="600"/>
              </a:spcBef>
              <a:defRPr sz="1400"/>
            </a:pPr>
            <a:r>
              <a:t>4. Use faceting if appropriate</a:t>
            </a:r>
          </a:p>
          <a:p>
            <a:pPr>
              <a:spcBef>
                <a:spcPts val="600"/>
              </a:spcBef>
              <a:defRPr sz="1400"/>
            </a:pPr>
            <a:r>
              <a:t>5. Apply perception principles</a:t>
            </a:r>
          </a:p>
          <a:p>
            <a:pPr>
              <a:spcBef>
                <a:spcPts val="600"/>
              </a:spcBef>
              <a:defRPr sz="1400"/>
            </a:pPr>
            <a:r>
              <a:t>Implement in Python (Matplotlib or Seaborn)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Slide 67 – Exercise 4: Color Palette Selection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400"/>
            </a:pPr>
            <a:r>
              <a:t>Scenario: You need to visualize temperature data from -10°C to +40°C</a:t>
            </a:r>
          </a:p>
          <a:p>
            <a:pPr>
              <a:spcBef>
                <a:spcPts val="600"/>
              </a:spcBef>
              <a:defRPr sz="1400"/>
            </a:pPr>
            <a:r>
              <a:t>Questions:</a:t>
            </a:r>
          </a:p>
          <a:p>
            <a:pPr>
              <a:spcBef>
                <a:spcPts val="600"/>
              </a:spcBef>
              <a:defRPr sz="1400"/>
            </a:pPr>
            <a:r>
              <a:t>1. What type of color palette should you use?</a:t>
            </a:r>
          </a:p>
          <a:p>
            <a:pPr>
              <a:spcBef>
                <a:spcPts val="600"/>
              </a:spcBef>
              <a:defRPr sz="1400"/>
            </a:pPr>
            <a:r>
              <a:t>2. Why is rainbow/jet inappropriate?</a:t>
            </a:r>
          </a:p>
          <a:p>
            <a:pPr>
              <a:spcBef>
                <a:spcPts val="600"/>
              </a:spcBef>
              <a:defRPr sz="1400"/>
            </a:pPr>
            <a:r>
              <a:t>3. What's a good alternative?</a:t>
            </a:r>
          </a:p>
          <a:p>
            <a:pPr>
              <a:spcBef>
                <a:spcPts val="600"/>
              </a:spcBef>
              <a:defRPr sz="1400"/>
            </a:pPr>
            <a:r>
              <a:t>4. How do you handle the zero point?</a:t>
            </a:r>
          </a:p>
          <a:p>
            <a:pPr>
              <a:spcBef>
                <a:spcPts val="600"/>
              </a:spcBef>
              <a:defRPr sz="1400"/>
            </a:pPr>
            <a:r>
              <a:t>Implement:</a:t>
            </a:r>
          </a:p>
          <a:p>
            <a:pPr>
              <a:spcBef>
                <a:spcPts val="600"/>
              </a:spcBef>
              <a:defRPr sz="1400"/>
            </a:pPr>
            <a:r>
              <a:t>```python</a:t>
            </a:r>
          </a:p>
          <a:p>
            <a:pPr>
              <a:spcBef>
                <a:spcPts val="600"/>
              </a:spcBef>
              <a:defRPr sz="1400"/>
            </a:pPr>
            <a:r>
              <a:t>import matplotlib.pyplot as plt</a:t>
            </a:r>
          </a:p>
          <a:p>
            <a:pPr>
              <a:spcBef>
                <a:spcPts val="600"/>
              </a:spcBef>
              <a:defRPr sz="1400"/>
            </a:pPr>
            <a:r>
              <a:t>import numpy as np</a:t>
            </a:r>
          </a:p>
          <a:p>
            <a:pPr>
              <a:spcBef>
                <a:spcPts val="600"/>
              </a:spcBef>
              <a:defRPr sz="1400"/>
            </a:pPr>
            <a:r>
              <a:t># Your code here to create heatmap with appropriate palette</a:t>
            </a:r>
          </a:p>
          <a:p>
            <a:pPr>
              <a:spcBef>
                <a:spcPts val="600"/>
              </a:spcBef>
              <a:defRPr sz="1400"/>
            </a:pPr>
            <a:r>
              <a:t>```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Slide 68 – Exercise 5: Preattentive Highlighting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400"/>
            </a:pPr>
            <a:r>
              <a:t>Task: Create a sales report where Q4 must pop out</a:t>
            </a:r>
          </a:p>
          <a:p>
            <a:pPr>
              <a:spcBef>
                <a:spcPts val="600"/>
              </a:spcBef>
              <a:defRPr sz="1400"/>
            </a:pPr>
            <a:r>
              <a:t>Data: Quarterly sales for 5 products</a:t>
            </a:r>
          </a:p>
          <a:p>
            <a:pPr>
              <a:spcBef>
                <a:spcPts val="600"/>
              </a:spcBef>
              <a:defRPr sz="1400"/>
            </a:pPr>
            <a:r>
              <a:t>Requirements:</a:t>
            </a:r>
          </a:p>
          <a:p>
            <a:pPr>
              <a:spcBef>
                <a:spcPts val="600"/>
              </a:spcBef>
              <a:defRPr sz="1400"/>
            </a:pPr>
            <a:r>
              <a:t>Use preattentive features (color, size, position)</a:t>
            </a:r>
          </a:p>
          <a:p>
            <a:pPr>
              <a:spcBef>
                <a:spcPts val="600"/>
              </a:spcBef>
              <a:defRPr sz="1400"/>
            </a:pPr>
            <a:r>
              <a:t>Make Q4 immediately visible</a:t>
            </a:r>
          </a:p>
          <a:p>
            <a:pPr>
              <a:spcBef>
                <a:spcPts val="600"/>
              </a:spcBef>
              <a:defRPr sz="1400"/>
            </a:pPr>
            <a:r>
              <a:t>Minimize cognitive load</a:t>
            </a:r>
          </a:p>
          <a:p>
            <a:pPr>
              <a:spcBef>
                <a:spcPts val="600"/>
              </a:spcBef>
              <a:defRPr sz="1400"/>
            </a:pPr>
            <a:r>
              <a:t>Include direct labels</a:t>
            </a:r>
          </a:p>
          <a:p>
            <a:pPr>
              <a:spcBef>
                <a:spcPts val="600"/>
              </a:spcBef>
              <a:defRPr sz="1400"/>
            </a:pPr>
            <a:r>
              <a:t>Code it: Use Matplotlib or Seaborn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Slide 69 – Real-World Application: Dashboard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400"/>
            </a:pPr>
            <a:r>
              <a:t>Scenario: Executive wants dashboard for:</a:t>
            </a:r>
          </a:p>
          <a:p>
            <a:pPr>
              <a:spcBef>
                <a:spcPts val="600"/>
              </a:spcBef>
              <a:defRPr sz="1400"/>
            </a:pPr>
            <a:r>
              <a:t>Monthly revenue trends</a:t>
            </a:r>
          </a:p>
          <a:p>
            <a:pPr>
              <a:spcBef>
                <a:spcPts val="600"/>
              </a:spcBef>
              <a:defRPr sz="1400"/>
            </a:pPr>
            <a:r>
              <a:t>Top 5 products</a:t>
            </a:r>
          </a:p>
          <a:p>
            <a:pPr>
              <a:spcBef>
                <a:spcPts val="600"/>
              </a:spcBef>
              <a:defRPr sz="1400"/>
            </a:pPr>
            <a:r>
              <a:t>Regional performance</a:t>
            </a:r>
          </a:p>
          <a:p>
            <a:pPr>
              <a:spcBef>
                <a:spcPts val="600"/>
              </a:spcBef>
              <a:defRPr sz="1400"/>
            </a:pPr>
            <a:r>
              <a:t>YoY comparison</a:t>
            </a:r>
          </a:p>
          <a:p>
            <a:pPr>
              <a:spcBef>
                <a:spcPts val="600"/>
              </a:spcBef>
              <a:defRPr sz="1400"/>
            </a:pPr>
            <a:r>
              <a:t>Your design must:</a:t>
            </a:r>
          </a:p>
          <a:p>
            <a:pPr>
              <a:spcBef>
                <a:spcPts val="600"/>
              </a:spcBef>
              <a:defRPr sz="1400"/>
            </a:pPr>
            <a:r>
              <a:t>1. Apply visual hierarchy (Gestalt)</a:t>
            </a:r>
          </a:p>
          <a:p>
            <a:pPr>
              <a:spcBef>
                <a:spcPts val="600"/>
              </a:spcBef>
              <a:defRPr sz="1400"/>
            </a:pPr>
            <a:r>
              <a:t>2. Use appropriate encodings</a:t>
            </a:r>
          </a:p>
          <a:p>
            <a:pPr>
              <a:spcBef>
                <a:spcPts val="600"/>
              </a:spcBef>
              <a:defRPr sz="1400"/>
            </a:pPr>
            <a:r>
              <a:t>3. Minimize cognitive load</a:t>
            </a:r>
          </a:p>
          <a:p>
            <a:pPr>
              <a:spcBef>
                <a:spcPts val="600"/>
              </a:spcBef>
              <a:defRPr sz="1400"/>
            </a:pPr>
            <a:r>
              <a:t>4. Enable 5-second insights</a:t>
            </a:r>
          </a:p>
          <a:p>
            <a:pPr>
              <a:spcBef>
                <a:spcPts val="600"/>
              </a:spcBef>
              <a:defRPr sz="1400"/>
            </a:pPr>
            <a:r>
              <a:t>Discussion: What would you include? What would you exclude?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Slide 70 – Connection to Data Science Workflows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400"/>
            </a:pPr>
            <a:r>
              <a:t>Where visualization fits in your projects:</a:t>
            </a:r>
          </a:p>
          <a:p>
            <a:pPr>
              <a:spcBef>
                <a:spcPts val="600"/>
              </a:spcBef>
              <a:defRPr sz="1400"/>
            </a:pPr>
            <a:r>
              <a:t>```</a:t>
            </a:r>
          </a:p>
          <a:p>
            <a:pPr>
              <a:spcBef>
                <a:spcPts val="600"/>
              </a:spcBef>
              <a:defRPr sz="1400"/>
            </a:pPr>
            <a:r>
              <a:t>Data Collection → Cleaning → EDA → Modeling → Evaluation → Communication</a:t>
            </a:r>
          </a:p>
          <a:p>
            <a:pPr>
              <a:spcBef>
                <a:spcPts val="600"/>
              </a:spcBef>
              <a:defRPr sz="1400"/>
            </a:pPr>
            <a:r>
              <a:t>↓         ↓       ↓          ↓</a:t>
            </a:r>
          </a:p>
          <a:p>
            <a:pPr>
              <a:spcBef>
                <a:spcPts val="600"/>
              </a:spcBef>
              <a:defRPr sz="1400"/>
            </a:pPr>
            <a:r>
              <a:t>Visualization is critical at every stage!</a:t>
            </a:r>
          </a:p>
          <a:p>
            <a:pPr>
              <a:spcBef>
                <a:spcPts val="600"/>
              </a:spcBef>
              <a:defRPr sz="1400"/>
            </a:pPr>
            <a:r>
              <a:t>```</a:t>
            </a:r>
          </a:p>
          <a:p>
            <a:pPr>
              <a:spcBef>
                <a:spcPts val="600"/>
              </a:spcBef>
              <a:defRPr sz="1400"/>
            </a:pPr>
            <a:r>
              <a:t>Roles of visualization:</a:t>
            </a:r>
          </a:p>
          <a:p>
            <a:pPr>
              <a:spcBef>
                <a:spcPts val="600"/>
              </a:spcBef>
              <a:defRPr sz="1400"/>
            </a:pPr>
            <a:r>
              <a:t>EDA: Understand patterns, find outliers</a:t>
            </a:r>
          </a:p>
          <a:p>
            <a:pPr>
              <a:spcBef>
                <a:spcPts val="600"/>
              </a:spcBef>
              <a:defRPr sz="1400"/>
            </a:pPr>
            <a:r>
              <a:t>Model Selection: Compare performance</a:t>
            </a:r>
          </a:p>
          <a:p>
            <a:pPr>
              <a:spcBef>
                <a:spcPts val="600"/>
              </a:spcBef>
              <a:defRPr sz="1400"/>
            </a:pPr>
            <a:r>
              <a:t>Debugging: Identify issues</a:t>
            </a:r>
          </a:p>
          <a:p>
            <a:pPr>
              <a:spcBef>
                <a:spcPts val="600"/>
              </a:spcBef>
              <a:defRPr sz="1400"/>
            </a:pPr>
            <a:r>
              <a:t>Communication: Share insights</a:t>
            </a:r>
          </a:p>
          <a:p>
            <a:pPr>
              <a:spcBef>
                <a:spcPts val="600"/>
              </a:spcBef>
              <a:defRPr sz="1400"/>
            </a:pPr>
            <a:r>
              <a:t>Decision Support: Enable action</a:t>
            </a:r>
          </a:p>
          <a:p>
            <a:pPr>
              <a:spcBef>
                <a:spcPts val="600"/>
              </a:spcBef>
              <a:defRPr sz="1400"/>
            </a:pPr>
            <a:r>
              <a:t>Remember: Good visualization = Better models = Better decisions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Slide 71 – Key Takeaways: Perception &amp; Cognition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400"/>
            </a:pPr>
            <a:r>
              <a:t>What we learned today:</a:t>
            </a:r>
          </a:p>
          <a:p>
            <a:pPr>
              <a:spcBef>
                <a:spcPts val="600"/>
              </a:spcBef>
              <a:defRPr sz="1400"/>
            </a:pPr>
            <a:r>
              <a:t>1. Visual Processing</a:t>
            </a:r>
          </a:p>
          <a:p>
            <a:pPr>
              <a:spcBef>
                <a:spcPts val="600"/>
              </a:spcBef>
              <a:defRPr sz="1400"/>
            </a:pPr>
            <a:r>
              <a:t>- Preattentive features enable instant detection</a:t>
            </a:r>
          </a:p>
          <a:p>
            <a:pPr>
              <a:spcBef>
                <a:spcPts val="600"/>
              </a:spcBef>
              <a:defRPr sz="1400"/>
            </a:pPr>
            <a:r>
              <a:t>- Leverage the 200ms window for critical information</a:t>
            </a:r>
          </a:p>
          <a:p>
            <a:pPr>
              <a:spcBef>
                <a:spcPts val="600"/>
              </a:spcBef>
              <a:defRPr sz="1400"/>
            </a:pPr>
            <a:r>
              <a:t>2. Gestalt Principles</a:t>
            </a:r>
          </a:p>
          <a:p>
            <a:pPr>
              <a:spcBef>
                <a:spcPts val="600"/>
              </a:spcBef>
              <a:defRPr sz="1400"/>
            </a:pPr>
            <a:r>
              <a:t>- Proximity, similarity, enclosure create automatic grouping</a:t>
            </a:r>
          </a:p>
          <a:p>
            <a:pPr>
              <a:spcBef>
                <a:spcPts val="600"/>
              </a:spcBef>
              <a:defRPr sz="1400"/>
            </a:pPr>
            <a:r>
              <a:t>- Design with perception, not against it</a:t>
            </a:r>
          </a:p>
          <a:p>
            <a:pPr>
              <a:spcBef>
                <a:spcPts val="600"/>
              </a:spcBef>
              <a:defRPr sz="1400"/>
            </a:pPr>
            <a:r>
              <a:t>3. Cognitive Load</a:t>
            </a:r>
          </a:p>
          <a:p>
            <a:pPr>
              <a:spcBef>
                <a:spcPts val="600"/>
              </a:spcBef>
              <a:defRPr sz="1400"/>
            </a:pPr>
            <a:r>
              <a:t>- Minimize extraneous load</a:t>
            </a:r>
          </a:p>
          <a:p>
            <a:pPr>
              <a:spcBef>
                <a:spcPts val="600"/>
              </a:spcBef>
              <a:defRPr sz="1400"/>
            </a:pPr>
            <a:r>
              <a:t>- Maximize germane load</a:t>
            </a:r>
          </a:p>
          <a:p>
            <a:pPr>
              <a:spcBef>
                <a:spcPts val="600"/>
              </a:spcBef>
              <a:defRPr sz="1400"/>
            </a:pPr>
            <a:r>
              <a:t>- Every element must justify its existence</a:t>
            </a:r>
          </a:p>
          <a:p>
            <a:pPr>
              <a:spcBef>
                <a:spcPts val="600"/>
              </a:spcBef>
              <a:defRPr sz="1400"/>
            </a:pPr>
            <a:r>
              <a:t>Remember: Perception is not subjective—it's measurable, predictable, and designable!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Slide 72 – Key Takeaways: Data &amp; Encodings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400"/>
            </a:pPr>
            <a:r>
              <a:t>What we learned today:</a:t>
            </a:r>
          </a:p>
          <a:p>
            <a:pPr>
              <a:spcBef>
                <a:spcPts val="600"/>
              </a:spcBef>
              <a:defRPr sz="1400"/>
            </a:pPr>
            <a:r>
              <a:t>1. Data Types Matter</a:t>
            </a:r>
          </a:p>
          <a:p>
            <a:pPr>
              <a:spcBef>
                <a:spcPts val="600"/>
              </a:spcBef>
              <a:defRPr sz="1400"/>
            </a:pPr>
            <a:r>
              <a:t>- Nominal, Ordinal, Quantitative, Temporal</a:t>
            </a:r>
          </a:p>
          <a:p>
            <a:pPr>
              <a:spcBef>
                <a:spcPts val="600"/>
              </a:spcBef>
              <a:defRPr sz="1400"/>
            </a:pPr>
            <a:r>
              <a:t>- Each has valid and invalid encodings</a:t>
            </a:r>
          </a:p>
          <a:p>
            <a:pPr>
              <a:spcBef>
                <a:spcPts val="600"/>
              </a:spcBef>
              <a:defRPr sz="1400"/>
            </a:pPr>
            <a:r>
              <a:t>2. Encoding Hierarchy</a:t>
            </a:r>
          </a:p>
          <a:p>
            <a:pPr>
              <a:spcBef>
                <a:spcPts val="600"/>
              </a:spcBef>
              <a:defRPr sz="1400"/>
            </a:pPr>
            <a:r>
              <a:t>- Position &gt; Length &gt; Area &gt; Color intensity</a:t>
            </a:r>
          </a:p>
          <a:p>
            <a:pPr>
              <a:spcBef>
                <a:spcPts val="600"/>
              </a:spcBef>
              <a:defRPr sz="1400"/>
            </a:pPr>
            <a:r>
              <a:t>- Use the most effective encoding for your task</a:t>
            </a:r>
          </a:p>
          <a:p>
            <a:pPr>
              <a:spcBef>
                <a:spcPts val="600"/>
              </a:spcBef>
              <a:defRPr sz="1400"/>
            </a:pPr>
            <a:r>
              <a:t>3. Data × Task × Encoding</a:t>
            </a:r>
          </a:p>
          <a:p>
            <a:pPr>
              <a:spcBef>
                <a:spcPts val="600"/>
              </a:spcBef>
              <a:defRPr sz="1400"/>
            </a:pPr>
            <a:r>
              <a:t>- Always match all three</a:t>
            </a:r>
          </a:p>
          <a:p>
            <a:pPr>
              <a:spcBef>
                <a:spcPts val="600"/>
              </a:spcBef>
              <a:defRPr sz="1400"/>
            </a:pPr>
            <a:r>
              <a:t>- Wrong encoding = cognitive overload</a:t>
            </a:r>
          </a:p>
          <a:p>
            <a:pPr>
              <a:spcBef>
                <a:spcPts val="600"/>
              </a:spcBef>
              <a:defRPr sz="1400"/>
            </a:pPr>
            <a:r>
              <a:t>Remember: The chart type is not the starting point—the data type and task are!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Slide 73 – Key Takeaways: Grammar of Graphics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400"/>
            </a:pPr>
            <a:r>
              <a:t>What we learned today:</a:t>
            </a:r>
          </a:p>
          <a:p>
            <a:pPr>
              <a:spcBef>
                <a:spcPts val="600"/>
              </a:spcBef>
              <a:defRPr sz="1400"/>
            </a:pPr>
            <a:r>
              <a:t>1. Compositional Thinking</a:t>
            </a:r>
          </a:p>
          <a:p>
            <a:pPr>
              <a:spcBef>
                <a:spcPts val="600"/>
              </a:spcBef>
              <a:defRPr sz="1400"/>
            </a:pPr>
            <a:r>
              <a:t>- Visualizations are not types, they're mappings</a:t>
            </a:r>
          </a:p>
          <a:p>
            <a:pPr>
              <a:spcBef>
                <a:spcPts val="600"/>
              </a:spcBef>
              <a:defRPr sz="1400"/>
            </a:pPr>
            <a:r>
              <a:t>- 7 components: Data, Aesthetics, Geom, Stats, Scales, Coordinates, Facets</a:t>
            </a:r>
          </a:p>
          <a:p>
            <a:pPr>
              <a:spcBef>
                <a:spcPts val="600"/>
              </a:spcBef>
              <a:defRPr sz="1400"/>
            </a:pPr>
            <a:r>
              <a:t>2. Systematic Design</a:t>
            </a:r>
          </a:p>
          <a:p>
            <a:pPr>
              <a:spcBef>
                <a:spcPts val="600"/>
              </a:spcBef>
              <a:defRPr sz="1400"/>
            </a:pPr>
            <a:r>
              <a:t>- Grammar provides structure and consistency</a:t>
            </a:r>
          </a:p>
          <a:p>
            <a:pPr>
              <a:spcBef>
                <a:spcPts val="600"/>
              </a:spcBef>
              <a:defRPr sz="1400"/>
            </a:pPr>
            <a:r>
              <a:t>- Reduces accidental complexity</a:t>
            </a:r>
          </a:p>
          <a:p>
            <a:pPr>
              <a:spcBef>
                <a:spcPts val="600"/>
              </a:spcBef>
              <a:defRPr sz="1400"/>
            </a:pPr>
            <a:r>
              <a:t>3. Python Implementation</a:t>
            </a:r>
          </a:p>
          <a:p>
            <a:pPr>
              <a:spcBef>
                <a:spcPts val="600"/>
              </a:spcBef>
              <a:defRPr sz="1400"/>
            </a:pPr>
            <a:r>
              <a:t>- Matplotlib: Low-level control</a:t>
            </a:r>
          </a:p>
          <a:p>
            <a:pPr>
              <a:spcBef>
                <a:spcPts val="600"/>
              </a:spcBef>
              <a:defRPr sz="1400"/>
            </a:pPr>
            <a:r>
              <a:t>- Seaborn: Statistical graphics</a:t>
            </a:r>
          </a:p>
          <a:p>
            <a:pPr>
              <a:spcBef>
                <a:spcPts val="600"/>
              </a:spcBef>
              <a:defRPr sz="1400"/>
            </a:pPr>
            <a:r>
              <a:t>- Both follow grammar principles</a:t>
            </a:r>
          </a:p>
          <a:p>
            <a:pPr>
              <a:spcBef>
                <a:spcPts val="600"/>
              </a:spcBef>
              <a:defRPr sz="1400"/>
            </a:pPr>
            <a:r>
              <a:t>Remember: Think in layers and mappings, not chart templates!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Slide 74 – Key Takeaways: Python Best Practices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400"/>
            </a:pPr>
            <a:r>
              <a:t>What we learned today:</a:t>
            </a:r>
          </a:p>
          <a:p>
            <a:pPr>
              <a:spcBef>
                <a:spcPts val="600"/>
              </a:spcBef>
              <a:defRPr sz="1400"/>
            </a:pPr>
            <a:r>
              <a:t>1. Apply Perception Principles in Code</a:t>
            </a:r>
          </a:p>
          <a:p>
            <a:pPr>
              <a:spcBef>
                <a:spcPts val="600"/>
              </a:spcBef>
              <a:defRPr sz="1400"/>
            </a:pPr>
            <a:r>
              <a:t>- Use preattentive features (color, position)</a:t>
            </a:r>
          </a:p>
          <a:p>
            <a:pPr>
              <a:spcBef>
                <a:spcPts val="600"/>
              </a:spcBef>
              <a:defRPr sz="1400"/>
            </a:pPr>
            <a:r>
              <a:t>- Remove clutter (spines, heavy grids)</a:t>
            </a:r>
          </a:p>
          <a:p>
            <a:pPr>
              <a:spcBef>
                <a:spcPts val="600"/>
              </a:spcBef>
              <a:defRPr sz="1400"/>
            </a:pPr>
            <a:r>
              <a:t>- Direct labeling &gt; legends</a:t>
            </a:r>
          </a:p>
          <a:p>
            <a:pPr>
              <a:spcBef>
                <a:spcPts val="600"/>
              </a:spcBef>
              <a:defRPr sz="1400"/>
            </a:pPr>
            <a:r>
              <a:t>2. Choose Appropriate Palettes</a:t>
            </a:r>
          </a:p>
          <a:p>
            <a:pPr>
              <a:spcBef>
                <a:spcPts val="600"/>
              </a:spcBef>
              <a:defRPr sz="1400"/>
            </a:pPr>
            <a:r>
              <a:t>- Avoid rainbow (jet)</a:t>
            </a:r>
          </a:p>
          <a:p>
            <a:pPr>
              <a:spcBef>
                <a:spcPts val="600"/>
              </a:spcBef>
              <a:defRPr sz="1400"/>
            </a:pPr>
            <a:r>
              <a:t>- Use perceptually uniform colors (viridis)</a:t>
            </a:r>
          </a:p>
          <a:p>
            <a:pPr>
              <a:spcBef>
                <a:spcPts val="600"/>
              </a:spcBef>
              <a:defRPr sz="1400"/>
            </a:pPr>
            <a:r>
              <a:t>- Match palette type to data type</a:t>
            </a:r>
          </a:p>
          <a:p>
            <a:pPr>
              <a:spcBef>
                <a:spcPts val="600"/>
              </a:spcBef>
              <a:defRPr sz="1400"/>
            </a:pPr>
            <a:r>
              <a:t>3. Iterate and Refine</a:t>
            </a:r>
          </a:p>
          <a:p>
            <a:pPr>
              <a:spcBef>
                <a:spcPts val="600"/>
              </a:spcBef>
              <a:defRPr sz="1400"/>
            </a:pPr>
            <a:r>
              <a:t>- Start simple</a:t>
            </a:r>
          </a:p>
          <a:p>
            <a:pPr>
              <a:spcBef>
                <a:spcPts val="600"/>
              </a:spcBef>
              <a:defRPr sz="1400"/>
            </a:pPr>
            <a:r>
              <a:t>- Remove extraneous elements</a:t>
            </a:r>
          </a:p>
          <a:p>
            <a:pPr>
              <a:spcBef>
                <a:spcPts val="600"/>
              </a:spcBef>
              <a:defRPr sz="1400"/>
            </a:pPr>
            <a:r>
              <a:t>- Test with real users</a:t>
            </a:r>
          </a:p>
          <a:p>
            <a:pPr>
              <a:spcBef>
                <a:spcPts val="600"/>
              </a:spcBef>
              <a:defRPr sz="1400"/>
            </a:pPr>
            <a:r>
              <a:t>Remember: Code is not just functional—it embodies design principles!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Slide 75 – Looking Ahead: Future Topics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400"/>
            </a:pPr>
            <a:r>
              <a:t>How today's content connects to upcoming classes:</a:t>
            </a:r>
          </a:p>
          <a:p>
            <a:pPr>
              <a:spcBef>
                <a:spcPts val="600"/>
              </a:spcBef>
              <a:defRPr sz="1400"/>
            </a:pPr>
            <a:r>
              <a:t>Week 4: Exploratory Data Visualization</a:t>
            </a:r>
          </a:p>
          <a:p>
            <a:pPr>
              <a:spcBef>
                <a:spcPts val="600"/>
              </a:spcBef>
              <a:defRPr sz="1400"/>
            </a:pPr>
            <a:r>
              <a:t>Apply perception principles to EDA</a:t>
            </a:r>
          </a:p>
          <a:p>
            <a:pPr>
              <a:spcBef>
                <a:spcPts val="600"/>
              </a:spcBef>
              <a:defRPr sz="1400"/>
            </a:pPr>
            <a:r>
              <a:t>Use grammar for rapid iteration</a:t>
            </a:r>
          </a:p>
          <a:p>
            <a:pPr>
              <a:spcBef>
                <a:spcPts val="600"/>
              </a:spcBef>
              <a:defRPr sz="1400"/>
            </a:pPr>
            <a:r>
              <a:t>Week 5: Time-Series &amp; Temporal Data</a:t>
            </a:r>
          </a:p>
          <a:p>
            <a:pPr>
              <a:spcBef>
                <a:spcPts val="600"/>
              </a:spcBef>
              <a:defRPr sz="1400"/>
            </a:pPr>
            <a:r>
              <a:t>Temporal encodings and perception</a:t>
            </a:r>
          </a:p>
          <a:p>
            <a:pPr>
              <a:spcBef>
                <a:spcPts val="600"/>
              </a:spcBef>
              <a:defRPr sz="1400"/>
            </a:pPr>
            <a:r>
              <a:t>Cognitive load in dashboards</a:t>
            </a:r>
          </a:p>
          <a:p>
            <a:pPr>
              <a:spcBef>
                <a:spcPts val="600"/>
              </a:spcBef>
              <a:defRPr sz="1400"/>
            </a:pPr>
            <a:r>
              <a:t>Week 6: Geospatial Visualization</a:t>
            </a:r>
          </a:p>
          <a:p>
            <a:pPr>
              <a:spcBef>
                <a:spcPts val="600"/>
              </a:spcBef>
              <a:defRPr sz="1400"/>
            </a:pPr>
            <a:r>
              <a:t>Position encoding on maps</a:t>
            </a:r>
          </a:p>
          <a:p>
            <a:pPr>
              <a:spcBef>
                <a:spcPts val="600"/>
              </a:spcBef>
              <a:defRPr sz="1400"/>
            </a:pPr>
            <a:r>
              <a:t>Color choices for geographic data</a:t>
            </a:r>
          </a:p>
          <a:p>
            <a:pPr>
              <a:spcBef>
                <a:spcPts val="600"/>
              </a:spcBef>
              <a:defRPr sz="1400"/>
            </a:pPr>
            <a:r>
              <a:t>Week 10: Narrative Visualization &amp; Data Storytelling</a:t>
            </a:r>
          </a:p>
          <a:p>
            <a:pPr>
              <a:spcBef>
                <a:spcPts val="600"/>
              </a:spcBef>
              <a:defRPr sz="1400"/>
            </a:pPr>
            <a:r>
              <a:t>Direct attention using preattentive features</a:t>
            </a:r>
          </a:p>
          <a:p>
            <a:pPr>
              <a:spcBef>
                <a:spcPts val="600"/>
              </a:spcBef>
              <a:defRPr sz="1400"/>
            </a:pPr>
            <a:r>
              <a:t>Reduce cognitive load in presentations</a:t>
            </a:r>
          </a:p>
          <a:p>
            <a:pPr>
              <a:spcBef>
                <a:spcPts val="600"/>
              </a:spcBef>
              <a:defRPr sz="1400"/>
            </a:pPr>
            <a:r>
              <a:t>Week 12: Visualizing Models &amp; AI Systems</a:t>
            </a:r>
          </a:p>
          <a:p>
            <a:pPr>
              <a:spcBef>
                <a:spcPts val="600"/>
              </a:spcBef>
              <a:defRPr sz="1400"/>
            </a:pPr>
            <a:r>
              <a:t>Communicate uncertainty and predictions</a:t>
            </a:r>
          </a:p>
          <a:p>
            <a:pPr>
              <a:spcBef>
                <a:spcPts val="600"/>
              </a:spcBef>
              <a:defRPr sz="1400"/>
            </a:pPr>
            <a:r>
              <a:t>Make model outputs interpretable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Slide 76 – Resources for Further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400"/>
            </a:pPr>
            <a:r>
              <a:t>Books:</a:t>
            </a:r>
          </a:p>
          <a:p>
            <a:pPr>
              <a:spcBef>
                <a:spcPts val="600"/>
              </a:spcBef>
              <a:defRPr sz="1400"/>
            </a:pPr>
            <a:r>
              <a:t>The Visual Display of Quantitative Information - Edward Tufte</a:t>
            </a:r>
          </a:p>
          <a:p>
            <a:pPr>
              <a:spcBef>
                <a:spcPts val="600"/>
              </a:spcBef>
              <a:defRPr sz="1400"/>
            </a:pPr>
            <a:r>
              <a:t>Information Visualization - Colin Ware</a:t>
            </a:r>
          </a:p>
          <a:p>
            <a:pPr>
              <a:spcBef>
                <a:spcPts val="600"/>
              </a:spcBef>
              <a:defRPr sz="1400"/>
            </a:pPr>
            <a:r>
              <a:t>Visualization Analysis &amp; Design - Tamara Munzner</a:t>
            </a:r>
          </a:p>
          <a:p>
            <a:pPr>
              <a:spcBef>
                <a:spcPts val="600"/>
              </a:spcBef>
              <a:defRPr sz="1400"/>
            </a:pPr>
            <a:r>
              <a:t>Storytelling with Data - Cole Nussbaumer Knaflic</a:t>
            </a:r>
          </a:p>
          <a:p>
            <a:pPr>
              <a:spcBef>
                <a:spcPts val="600"/>
              </a:spcBef>
              <a:defRPr sz="1400"/>
            </a:pPr>
            <a:r>
              <a:t>Online Resources:</a:t>
            </a:r>
          </a:p>
          <a:p>
            <a:pPr>
              <a:spcBef>
                <a:spcPts val="600"/>
              </a:spcBef>
              <a:defRPr sz="1400"/>
            </a:pPr>
            <a:r>
              <a:t>Matplotlib documentation: matplotlib.org</a:t>
            </a:r>
          </a:p>
          <a:p>
            <a:pPr>
              <a:spcBef>
                <a:spcPts val="600"/>
              </a:spcBef>
              <a:defRPr sz="1400"/>
            </a:pPr>
            <a:r>
              <a:t>Seaborn gallery: seaborn.pydata.org</a:t>
            </a:r>
          </a:p>
          <a:p>
            <a:pPr>
              <a:spcBef>
                <a:spcPts val="600"/>
              </a:spcBef>
              <a:defRPr sz="1400"/>
            </a:pPr>
            <a:r>
              <a:t>Data Visualization Society: datavisualizationsociety.org</a:t>
            </a:r>
          </a:p>
          <a:p>
            <a:pPr>
              <a:spcBef>
                <a:spcPts val="600"/>
              </a:spcBef>
              <a:defRPr sz="1400"/>
            </a:pPr>
            <a:r>
              <a:t>Color Brewer (palettes): colorbrewer2.org</a:t>
            </a:r>
          </a:p>
          <a:p>
            <a:pPr>
              <a:spcBef>
                <a:spcPts val="600"/>
              </a:spcBef>
              <a:defRPr sz="1400"/>
            </a:pPr>
            <a:r>
              <a:t>Research Papers:</a:t>
            </a:r>
          </a:p>
          <a:p>
            <a:pPr>
              <a:spcBef>
                <a:spcPts val="600"/>
              </a:spcBef>
              <a:defRPr sz="1400"/>
            </a:pPr>
            <a:r>
              <a:t>Cleveland &amp; McGill (1984) - Graphical Perception</a:t>
            </a:r>
          </a:p>
          <a:p>
            <a:pPr>
              <a:spcBef>
                <a:spcPts val="600"/>
              </a:spcBef>
              <a:defRPr sz="1400"/>
            </a:pPr>
            <a:r>
              <a:t>Heer &amp; Bostock (2010) - Crowdsourcing Graphical Perception</a:t>
            </a:r>
          </a:p>
          <a:p>
            <a:pPr>
              <a:spcBef>
                <a:spcPts val="600"/>
              </a:spcBef>
              <a:defRPr sz="1400"/>
            </a:pPr>
            <a:r>
              <a:t>Munzner (2009) - A Nested Model for Visualization Design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Slide 77 – Assignment: Perceptually-Optimized Visualization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400"/>
            </a:pPr>
            <a:r>
              <a:t>Due: Next class</a:t>
            </a:r>
          </a:p>
          <a:p>
            <a:pPr>
              <a:spcBef>
                <a:spcPts val="600"/>
              </a:spcBef>
              <a:defRPr sz="1400"/>
            </a:pPr>
            <a:r>
              <a:t>Task: Find a poor visualization and redesign it</a:t>
            </a:r>
          </a:p>
          <a:p>
            <a:pPr>
              <a:spcBef>
                <a:spcPts val="600"/>
              </a:spcBef>
              <a:defRPr sz="1400"/>
            </a:pPr>
            <a:r>
              <a:t>Deliverables:</a:t>
            </a:r>
          </a:p>
          <a:p>
            <a:pPr>
              <a:spcBef>
                <a:spcPts val="600"/>
              </a:spcBef>
              <a:defRPr sz="1400"/>
            </a:pPr>
            <a:r>
              <a:t>1. Original visualization (screenshot + source)</a:t>
            </a:r>
          </a:p>
          <a:p>
            <a:pPr>
              <a:spcBef>
                <a:spcPts val="600"/>
              </a:spcBef>
              <a:defRPr sz="1400"/>
            </a:pPr>
            <a:r>
              <a:t>2. Critique (2-3 paragraphs):</a:t>
            </a:r>
          </a:p>
          <a:p>
            <a:pPr>
              <a:spcBef>
                <a:spcPts val="600"/>
              </a:spcBef>
              <a:defRPr sz="1400"/>
            </a:pPr>
            <a:r>
              <a:t>- Identify perception violations</a:t>
            </a:r>
          </a:p>
          <a:p>
            <a:pPr>
              <a:spcBef>
                <a:spcPts val="600"/>
              </a:spcBef>
              <a:defRPr sz="1400"/>
            </a:pPr>
            <a:r>
              <a:t>- Identify cognitive load issues</a:t>
            </a:r>
          </a:p>
          <a:p>
            <a:pPr>
              <a:spcBef>
                <a:spcPts val="600"/>
              </a:spcBef>
              <a:defRPr sz="1400"/>
            </a:pPr>
            <a:r>
              <a:t>- Identify encoding problems</a:t>
            </a:r>
          </a:p>
          <a:p>
            <a:pPr>
              <a:spcBef>
                <a:spcPts val="600"/>
              </a:spcBef>
              <a:defRPr sz="1400"/>
            </a:pPr>
            <a:r>
              <a:t>3. Redesign (Python code + output):</a:t>
            </a:r>
          </a:p>
          <a:p>
            <a:pPr>
              <a:spcBef>
                <a:spcPts val="600"/>
              </a:spcBef>
              <a:defRPr sz="1400"/>
            </a:pPr>
            <a:r>
              <a:t>- Apply perception principles</a:t>
            </a:r>
          </a:p>
          <a:p>
            <a:pPr>
              <a:spcBef>
                <a:spcPts val="600"/>
              </a:spcBef>
              <a:defRPr sz="1400"/>
            </a:pPr>
            <a:r>
              <a:t>- Use appropriate encodings</a:t>
            </a:r>
          </a:p>
          <a:p>
            <a:pPr>
              <a:spcBef>
                <a:spcPts val="600"/>
              </a:spcBef>
              <a:defRPr sz="1400"/>
            </a:pPr>
            <a:r>
              <a:t>- Implement in Matplotlib or Seaborn</a:t>
            </a:r>
          </a:p>
          <a:p>
            <a:pPr>
              <a:spcBef>
                <a:spcPts val="600"/>
              </a:spcBef>
              <a:defRPr sz="1400"/>
            </a:pPr>
            <a:r>
              <a:t>4. Justification (1-2 paragraphs):</a:t>
            </a:r>
          </a:p>
          <a:p>
            <a:pPr>
              <a:spcBef>
                <a:spcPts val="600"/>
              </a:spcBef>
              <a:defRPr sz="1400"/>
            </a:pPr>
            <a:r>
              <a:t>- Explain your design choices</a:t>
            </a:r>
          </a:p>
          <a:p>
            <a:pPr>
              <a:spcBef>
                <a:spcPts val="600"/>
              </a:spcBef>
              <a:defRPr sz="1400"/>
            </a:pPr>
            <a:r>
              <a:t>- Reference course concepts</a:t>
            </a:r>
          </a:p>
          <a:p>
            <a:pPr>
              <a:spcBef>
                <a:spcPts val="600"/>
              </a:spcBef>
              <a:defRPr sz="1400"/>
            </a:pPr>
            <a:r>
              <a:t>Grading: Original (10%), Critique (30%), Redesign (40%), Justification (20%)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Slide 78 – Assignment Tips &amp; Guidance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400"/>
            </a:pPr>
            <a:r>
              <a:t>Where to find bad visualizations:</a:t>
            </a:r>
          </a:p>
          <a:p>
            <a:pPr>
              <a:spcBef>
                <a:spcPts val="600"/>
              </a:spcBef>
              <a:defRPr sz="1400"/>
            </a:pPr>
            <a:r>
              <a:t>News media</a:t>
            </a:r>
          </a:p>
          <a:p>
            <a:pPr>
              <a:spcBef>
                <a:spcPts val="600"/>
              </a:spcBef>
              <a:defRPr sz="1400"/>
            </a:pPr>
            <a:r>
              <a:t>Business reports</a:t>
            </a:r>
          </a:p>
          <a:p>
            <a:pPr>
              <a:spcBef>
                <a:spcPts val="600"/>
              </a:spcBef>
              <a:defRPr sz="1400"/>
            </a:pPr>
            <a:r>
              <a:t>Social media infographics</a:t>
            </a:r>
          </a:p>
          <a:p>
            <a:pPr>
              <a:spcBef>
                <a:spcPts val="600"/>
              </a:spcBef>
              <a:defRPr sz="1400"/>
            </a:pPr>
            <a:r>
              <a:t>Academic papers</a:t>
            </a:r>
          </a:p>
          <a:p>
            <a:pPr>
              <a:spcBef>
                <a:spcPts val="600"/>
              </a:spcBef>
              <a:defRPr sz="1400"/>
            </a:pPr>
            <a:r>
              <a:t>Your own organization!</a:t>
            </a:r>
          </a:p>
          <a:p>
            <a:pPr>
              <a:spcBef>
                <a:spcPts val="600"/>
              </a:spcBef>
              <a:defRPr sz="1400"/>
            </a:pPr>
            <a:r>
              <a:t>What makes a good critique:</a:t>
            </a:r>
          </a:p>
          <a:p>
            <a:pPr>
              <a:spcBef>
                <a:spcPts val="600"/>
              </a:spcBef>
              <a:defRPr sz="1400"/>
            </a:pPr>
            <a:r>
              <a:t>Be specific (cite slide concepts)</a:t>
            </a:r>
          </a:p>
          <a:p>
            <a:pPr>
              <a:spcBef>
                <a:spcPts val="600"/>
              </a:spcBef>
              <a:defRPr sz="1400"/>
            </a:pPr>
            <a:r>
              <a:t>Use terminology (preattentive, extraneous load, etc.)</a:t>
            </a:r>
          </a:p>
          <a:p>
            <a:pPr>
              <a:spcBef>
                <a:spcPts val="600"/>
              </a:spcBef>
              <a:defRPr sz="1400"/>
            </a:pPr>
            <a:r>
              <a:t>Provide evidence (Cleveland &amp; McGill ranking, etc.)</a:t>
            </a:r>
          </a:p>
          <a:p>
            <a:pPr>
              <a:spcBef>
                <a:spcPts val="600"/>
              </a:spcBef>
              <a:defRPr sz="1400"/>
            </a:pPr>
            <a:r>
              <a:t>What makes a good redesign:</a:t>
            </a:r>
          </a:p>
          <a:p>
            <a:pPr>
              <a:spcBef>
                <a:spcPts val="600"/>
              </a:spcBef>
              <a:defRPr sz="1400"/>
            </a:pPr>
            <a:r>
              <a:t>Clean, commented Python code</a:t>
            </a:r>
          </a:p>
          <a:p>
            <a:pPr>
              <a:spcBef>
                <a:spcPts val="600"/>
              </a:spcBef>
              <a:defRPr sz="1400"/>
            </a:pPr>
            <a:r>
              <a:t>Clear improvement over original</a:t>
            </a:r>
          </a:p>
          <a:p>
            <a:pPr>
              <a:spcBef>
                <a:spcPts val="600"/>
              </a:spcBef>
              <a:defRPr sz="1400"/>
            </a:pPr>
            <a:r>
              <a:t>Demonstrates course principles</a:t>
            </a:r>
          </a:p>
          <a:p>
            <a:pPr>
              <a:spcBef>
                <a:spcPts val="600"/>
              </a:spcBef>
              <a:defRPr sz="1400"/>
            </a:pPr>
            <a:r>
              <a:t>Professional presentation quality</a:t>
            </a:r>
          </a:p>
          <a:p>
            <a:pPr>
              <a:spcBef>
                <a:spcPts val="600"/>
              </a:spcBef>
              <a:defRPr sz="1400"/>
            </a:pPr>
            <a:r>
              <a:t>Pro tip: Start with something moderately bad, not catastrophically terrible!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Slide 79 – Optional Challenge: Build a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400"/>
            </a:pPr>
            <a:r>
              <a:t>For those wanting extra practice:</a:t>
            </a:r>
          </a:p>
          <a:p>
            <a:pPr>
              <a:spcBef>
                <a:spcPts val="600"/>
              </a:spcBef>
              <a:defRPr sz="1400"/>
            </a:pPr>
            <a:r>
              <a:t>Dataset: Provided sales data (CSV)</a:t>
            </a:r>
          </a:p>
          <a:p>
            <a:pPr>
              <a:spcBef>
                <a:spcPts val="600"/>
              </a:spcBef>
              <a:defRPr sz="1400"/>
            </a:pPr>
            <a:r>
              <a:t>Requirements:</a:t>
            </a:r>
          </a:p>
          <a:p>
            <a:pPr>
              <a:spcBef>
                <a:spcPts val="600"/>
              </a:spcBef>
              <a:defRPr sz="1400"/>
            </a:pPr>
            <a:r>
              <a:t>1. 4-6 visualizations on one figure</a:t>
            </a:r>
          </a:p>
          <a:p>
            <a:pPr>
              <a:spcBef>
                <a:spcPts val="600"/>
              </a:spcBef>
              <a:defRPr sz="1400"/>
            </a:pPr>
            <a:r>
              <a:t>2. Clear visual hierarchy (Gestalt)</a:t>
            </a:r>
          </a:p>
          <a:p>
            <a:pPr>
              <a:spcBef>
                <a:spcPts val="600"/>
              </a:spcBef>
              <a:defRPr sz="1400"/>
            </a:pPr>
            <a:r>
              <a:t>3. Appropriate encodings for each data type</a:t>
            </a:r>
          </a:p>
          <a:p>
            <a:pPr>
              <a:spcBef>
                <a:spcPts val="600"/>
              </a:spcBef>
              <a:defRPr sz="1400"/>
            </a:pPr>
            <a:r>
              <a:t>4. Low cognitive load design</a:t>
            </a:r>
          </a:p>
          <a:p>
            <a:pPr>
              <a:spcBef>
                <a:spcPts val="600"/>
              </a:spcBef>
              <a:defRPr sz="1400"/>
            </a:pPr>
            <a:r>
              <a:t>5. Professional quality</a:t>
            </a:r>
          </a:p>
          <a:p>
            <a:pPr>
              <a:spcBef>
                <a:spcPts val="600"/>
              </a:spcBef>
              <a:defRPr sz="1400"/>
            </a:pPr>
            <a:r>
              <a:t>Bonus points for:</a:t>
            </a:r>
          </a:p>
          <a:p>
            <a:pPr>
              <a:spcBef>
                <a:spcPts val="600"/>
              </a:spcBef>
              <a:defRPr sz="1400"/>
            </a:pPr>
            <a:r>
              <a:t>Interactive elements (Plotly)</a:t>
            </a:r>
          </a:p>
          <a:p>
            <a:pPr>
              <a:spcBef>
                <a:spcPts val="600"/>
              </a:spcBef>
              <a:defRPr sz="1400"/>
            </a:pPr>
            <a:r>
              <a:t>Effective use of small multiples</a:t>
            </a:r>
          </a:p>
          <a:p>
            <a:pPr>
              <a:spcBef>
                <a:spcPts val="600"/>
              </a:spcBef>
              <a:defRPr sz="1400"/>
            </a:pPr>
            <a:r>
              <a:t>Excellent color choices</a:t>
            </a:r>
          </a:p>
          <a:p>
            <a:pPr>
              <a:spcBef>
                <a:spcPts val="600"/>
              </a:spcBef>
              <a:defRPr sz="1400"/>
            </a:pPr>
            <a:r>
              <a:t>Direct labeling throughout</a:t>
            </a:r>
          </a:p>
          <a:p>
            <a:pPr>
              <a:spcBef>
                <a:spcPts val="600"/>
              </a:spcBef>
              <a:defRPr sz="1400"/>
            </a:pPr>
            <a:r>
              <a:t>This is optional but highly recommended for portfolio building!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Slide 80 – Common Questions &amp; Answers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400"/>
            </a:pPr>
            <a:r>
              <a:t>Q: "Can I ever use pie charts?"</a:t>
            </a:r>
          </a:p>
          <a:p>
            <a:pPr>
              <a:spcBef>
                <a:spcPts val="600"/>
              </a:spcBef>
              <a:defRPr sz="1400"/>
            </a:pPr>
            <a:r>
              <a:t>A: Yes, but only for 2-3 categories showing parts of a whole. Bar charts are almost always better.</a:t>
            </a:r>
          </a:p>
          <a:p>
            <a:pPr>
              <a:spcBef>
                <a:spcPts val="600"/>
              </a:spcBef>
              <a:defRPr sz="1400"/>
            </a:pPr>
            <a:r>
              <a:t>Q: "What about 3D visualizations?"</a:t>
            </a:r>
          </a:p>
          <a:p>
            <a:pPr>
              <a:spcBef>
                <a:spcPts val="600"/>
              </a:spcBef>
              <a:defRPr sz="1400"/>
            </a:pPr>
            <a:r>
              <a:t>A: Avoid unless the data is genuinely 3-dimensional (x, y, z coordinates). 3D effects on 2D data distort perception.</a:t>
            </a:r>
          </a:p>
          <a:p>
            <a:pPr>
              <a:spcBef>
                <a:spcPts val="600"/>
              </a:spcBef>
              <a:defRPr sz="1400"/>
            </a:pPr>
            <a:r>
              <a:t>Q: "How do I choose between Matplotlib and Seaborn?"</a:t>
            </a:r>
          </a:p>
          <a:p>
            <a:pPr>
              <a:spcBef>
                <a:spcPts val="600"/>
              </a:spcBef>
              <a:defRPr sz="1400"/>
            </a:pPr>
            <a:r>
              <a:t>A: Seaborn for statistical plots with DataFrames. Matplotlib for custom or low-level control.</a:t>
            </a:r>
          </a:p>
          <a:p>
            <a:pPr>
              <a:spcBef>
                <a:spcPts val="600"/>
              </a:spcBef>
              <a:defRPr sz="1400"/>
            </a:pPr>
            <a:r>
              <a:t>Q: "What if my boss wants rainbow colors?"</a:t>
            </a:r>
          </a:p>
          <a:p>
            <a:pPr>
              <a:spcBef>
                <a:spcPts val="600"/>
              </a:spcBef>
              <a:defRPr sz="1400"/>
            </a:pPr>
            <a:r>
              <a:t>A: Show them this class! Explain why perceptually uniform colors lead to better decisions.</a:t>
            </a:r>
          </a:p>
          <a:p>
            <a:pPr>
              <a:spcBef>
                <a:spcPts val="600"/>
              </a:spcBef>
              <a:defRPr sz="1400"/>
            </a:pPr>
            <a:r>
              <a:t>Q: "Is this really science or just opinion?"</a:t>
            </a:r>
          </a:p>
          <a:p>
            <a:pPr>
              <a:spcBef>
                <a:spcPts val="600"/>
              </a:spcBef>
              <a:defRPr sz="1400"/>
            </a:pPr>
            <a:r>
              <a:t>A: Science! Cleveland &amp; McGill's research is empirical and replicated.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Slide 81 – Next Class Preview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400"/>
            </a:pPr>
            <a:r>
              <a:t>Week 4: Exploratory Data Visualization</a:t>
            </a:r>
          </a:p>
          <a:p>
            <a:pPr>
              <a:spcBef>
                <a:spcPts val="600"/>
              </a:spcBef>
              <a:defRPr sz="1400"/>
            </a:pPr>
            <a:r>
              <a:t>Topics we'll cover:</a:t>
            </a:r>
          </a:p>
          <a:p>
            <a:pPr>
              <a:spcBef>
                <a:spcPts val="600"/>
              </a:spcBef>
              <a:defRPr sz="1400"/>
            </a:pPr>
            <a:r>
              <a:t>EDA workflows and best practices</a:t>
            </a:r>
          </a:p>
          <a:p>
            <a:pPr>
              <a:spcBef>
                <a:spcPts val="600"/>
              </a:spcBef>
              <a:defRPr sz="1400"/>
            </a:pPr>
            <a:r>
              <a:t>Distribution visualizations</a:t>
            </a:r>
          </a:p>
          <a:p>
            <a:pPr>
              <a:spcBef>
                <a:spcPts val="600"/>
              </a:spcBef>
              <a:defRPr sz="1400"/>
            </a:pPr>
            <a:r>
              <a:t>Relationship and correlation plots</a:t>
            </a:r>
          </a:p>
          <a:p>
            <a:pPr>
              <a:spcBef>
                <a:spcPts val="600"/>
              </a:spcBef>
              <a:defRPr sz="1400"/>
            </a:pPr>
            <a:r>
              <a:t>Identifying outliers and patterns</a:t>
            </a:r>
          </a:p>
          <a:p>
            <a:pPr>
              <a:spcBef>
                <a:spcPts val="600"/>
              </a:spcBef>
              <a:defRPr sz="1400"/>
            </a:pPr>
            <a:r>
              <a:t>Interactive exploration with Plotly</a:t>
            </a:r>
          </a:p>
          <a:p>
            <a:pPr>
              <a:spcBef>
                <a:spcPts val="600"/>
              </a:spcBef>
              <a:defRPr sz="1400"/>
            </a:pPr>
            <a:r>
              <a:t>Building an EDA toolkit</a:t>
            </a:r>
          </a:p>
          <a:p>
            <a:pPr>
              <a:spcBef>
                <a:spcPts val="600"/>
              </a:spcBef>
              <a:defRPr sz="1400"/>
            </a:pPr>
            <a:r>
              <a:t>Preparation:</a:t>
            </a:r>
          </a:p>
          <a:p>
            <a:pPr>
              <a:spcBef>
                <a:spcPts val="600"/>
              </a:spcBef>
              <a:defRPr sz="1400"/>
            </a:pPr>
            <a:r>
              <a:t>Complete today's assignment</a:t>
            </a:r>
          </a:p>
          <a:p>
            <a:pPr>
              <a:spcBef>
                <a:spcPts val="600"/>
              </a:spcBef>
              <a:defRPr sz="1400"/>
            </a:pPr>
            <a:r>
              <a:t>Review pandas DataFrames</a:t>
            </a:r>
          </a:p>
          <a:p>
            <a:pPr>
              <a:spcBef>
                <a:spcPts val="600"/>
              </a:spcBef>
              <a:defRPr sz="1400"/>
            </a:pPr>
            <a:r>
              <a:t>Install plotly: pip install plotly</a:t>
            </a:r>
          </a:p>
          <a:p>
            <a:pPr>
              <a:spcBef>
                <a:spcPts val="600"/>
              </a:spcBef>
              <a:defRPr sz="1400"/>
            </a:pPr>
            <a:r>
              <a:t>Bring a dataset you want to explore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Slide 82 – Closing Thoughts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400"/>
            </a:pPr>
            <a:r>
              <a:t>What makes visualization a superpower in data science?</a:t>
            </a:r>
          </a:p>
          <a:p>
            <a:pPr>
              <a:spcBef>
                <a:spcPts val="600"/>
              </a:spcBef>
              <a:defRPr sz="1400"/>
            </a:pPr>
            <a:r>
              <a:t>It's the only part of the workflow that:</a:t>
            </a:r>
          </a:p>
          <a:p>
            <a:pPr>
              <a:spcBef>
                <a:spcPts val="600"/>
              </a:spcBef>
              <a:defRPr sz="1400"/>
            </a:pPr>
            <a:r>
              <a:t>* Directly interfaces with human cognition</a:t>
            </a:r>
          </a:p>
          <a:p>
            <a:pPr>
              <a:spcBef>
                <a:spcPts val="600"/>
              </a:spcBef>
              <a:defRPr sz="1400"/>
            </a:pPr>
            <a:r>
              <a:t>* Enables pattern recognition at scale</a:t>
            </a:r>
          </a:p>
          <a:p>
            <a:pPr>
              <a:spcBef>
                <a:spcPts val="600"/>
              </a:spcBef>
              <a:defRPr sz="1400"/>
            </a:pPr>
            <a:r>
              <a:t>* Communicates to technical and non-technical audiences</a:t>
            </a:r>
          </a:p>
          <a:p>
            <a:pPr>
              <a:spcBef>
                <a:spcPts val="600"/>
              </a:spcBef>
              <a:defRPr sz="1400"/>
            </a:pPr>
            <a:r>
              <a:t>* Drives decisions and action</a:t>
            </a:r>
          </a:p>
          <a:p>
            <a:pPr>
              <a:spcBef>
                <a:spcPts val="600"/>
              </a:spcBef>
              <a:defRPr sz="1400"/>
            </a:pPr>
            <a:r>
              <a:t>Today you learned:</a:t>
            </a:r>
          </a:p>
          <a:p>
            <a:pPr>
              <a:spcBef>
                <a:spcPts val="600"/>
              </a:spcBef>
              <a:defRPr sz="1400"/>
            </a:pPr>
            <a:r>
              <a:t>How humans see and think</a:t>
            </a:r>
          </a:p>
          <a:p>
            <a:pPr>
              <a:spcBef>
                <a:spcPts val="600"/>
              </a:spcBef>
              <a:defRPr sz="1400"/>
            </a:pPr>
            <a:r>
              <a:t>Why certain designs work (and others fail)</a:t>
            </a:r>
          </a:p>
          <a:p>
            <a:pPr>
              <a:spcBef>
                <a:spcPts val="600"/>
              </a:spcBef>
              <a:defRPr sz="1400"/>
            </a:pPr>
            <a:r>
              <a:t>How to implement perception-based design in Python</a:t>
            </a:r>
          </a:p>
          <a:p>
            <a:pPr>
              <a:spcBef>
                <a:spcPts val="600"/>
              </a:spcBef>
              <a:defRPr sz="1400"/>
            </a:pPr>
            <a:r>
              <a:t>Your challenge:</a:t>
            </a:r>
          </a:p>
          <a:p>
            <a:pPr>
              <a:spcBef>
                <a:spcPts val="600"/>
              </a:spcBef>
              <a:defRPr sz="1400"/>
            </a:pPr>
            <a:r>
              <a:t>See visualizations differently now</a:t>
            </a:r>
          </a:p>
          <a:p>
            <a:pPr>
              <a:spcBef>
                <a:spcPts val="600"/>
              </a:spcBef>
              <a:defRPr sz="1400"/>
            </a:pPr>
            <a:r>
              <a:t>Apply these principles in every project</a:t>
            </a:r>
          </a:p>
          <a:p>
            <a:pPr>
              <a:spcBef>
                <a:spcPts val="600"/>
              </a:spcBef>
              <a:defRPr sz="1400"/>
            </a:pPr>
            <a:r>
              <a:t>Build a portfolio of excellent work</a:t>
            </a:r>
          </a:p>
          <a:p>
            <a:pPr>
              <a:spcBef>
                <a:spcPts val="600"/>
              </a:spcBef>
              <a:defRPr sz="1400"/>
            </a:pPr>
            <a:r>
              <a:t>Remember:</a:t>
            </a:r>
          </a:p>
          <a:p>
            <a:pPr>
              <a:spcBef>
                <a:spcPts val="600"/>
              </a:spcBef>
              <a:defRPr sz="1400"/>
            </a:pPr>
            <a:r>
              <a:t>&gt; "Good visualization is not about making pretty pictures.</a:t>
            </a:r>
          </a:p>
          <a:p>
            <a:pPr>
              <a:spcBef>
                <a:spcPts val="600"/>
              </a:spcBef>
              <a:defRPr sz="1400"/>
            </a:pPr>
            <a:r>
              <a:t>&gt; It's about making complex information accessible to human cognition."</a:t>
            </a:r>
          </a:p>
          <a:p>
            <a:pPr>
              <a:spcBef>
                <a:spcPts val="600"/>
              </a:spcBef>
              <a:defRPr sz="1400"/>
            </a:pPr>
            <a:r>
              <a:t>Thank you! Questions?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Additional Resources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400"/>
            </a:pPr>
            <a:r>
              <a:t>Python Code Repository</a:t>
            </a:r>
          </a:p>
          <a:p>
            <a:pPr>
              <a:spcBef>
                <a:spcPts val="600"/>
              </a:spcBef>
              <a:defRPr sz="1400"/>
            </a:pPr>
            <a:r>
              <a:t>All code examples from today's slides</a:t>
            </a:r>
          </a:p>
          <a:p>
            <a:pPr>
              <a:spcBef>
                <a:spcPts val="600"/>
              </a:spcBef>
              <a:defRPr sz="1400"/>
            </a:pPr>
            <a:r>
              <a:t>Jupyter notebook with exercises</a:t>
            </a:r>
          </a:p>
          <a:p>
            <a:pPr>
              <a:spcBef>
                <a:spcPts val="600"/>
              </a:spcBef>
              <a:defRPr sz="1400"/>
            </a:pPr>
            <a:r>
              <a:t>Sample datasets</a:t>
            </a:r>
          </a:p>
          <a:p>
            <a:pPr>
              <a:spcBef>
                <a:spcPts val="600"/>
              </a:spcBef>
              <a:defRPr sz="1400"/>
            </a:pPr>
            <a:r>
              <a:t>Available on course website</a:t>
            </a:r>
          </a:p>
          <a:p>
            <a:pPr>
              <a:spcBef>
                <a:spcPts val="600"/>
              </a:spcBef>
              <a:defRPr sz="1400"/>
            </a:pPr>
            <a:r>
              <a:t>Office Hours</a:t>
            </a:r>
          </a:p>
          <a:p>
            <a:pPr>
              <a:spcBef>
                <a:spcPts val="600"/>
              </a:spcBef>
              <a:defRPr sz="1400"/>
            </a:pPr>
            <a:r>
              <a:t>Questions about assignments</a:t>
            </a:r>
          </a:p>
          <a:p>
            <a:pPr>
              <a:spcBef>
                <a:spcPts val="600"/>
              </a:spcBef>
              <a:defRPr sz="1400"/>
            </a:pPr>
            <a:r>
              <a:t>Help with code</a:t>
            </a:r>
          </a:p>
          <a:p>
            <a:pPr>
              <a:spcBef>
                <a:spcPts val="600"/>
              </a:spcBef>
              <a:defRPr sz="1400"/>
            </a:pPr>
            <a:r>
              <a:t>Discussion of concepts</a:t>
            </a:r>
          </a:p>
          <a:p>
            <a:pPr>
              <a:spcBef>
                <a:spcPts val="600"/>
              </a:spcBef>
              <a:defRPr sz="1400"/>
            </a:pPr>
            <a:r>
              <a:t>Next Steps</a:t>
            </a:r>
          </a:p>
          <a:p>
            <a:pPr>
              <a:spcBef>
                <a:spcPts val="600"/>
              </a:spcBef>
              <a:defRPr sz="1400"/>
            </a:pPr>
            <a:r>
              <a:t>1. Review these slides</a:t>
            </a:r>
          </a:p>
          <a:p>
            <a:pPr>
              <a:spcBef>
                <a:spcPts val="600"/>
              </a:spcBef>
              <a:defRPr sz="1400"/>
            </a:pPr>
            <a:r>
              <a:t>2. Work on assignment</a:t>
            </a:r>
          </a:p>
          <a:p>
            <a:pPr>
              <a:spcBef>
                <a:spcPts val="600"/>
              </a:spcBef>
              <a:defRPr sz="1400"/>
            </a:pPr>
            <a:r>
              <a:t>3. Practice with your own data</a:t>
            </a:r>
          </a:p>
          <a:p>
            <a:pPr>
              <a:spcBef>
                <a:spcPts val="600"/>
              </a:spcBef>
              <a:defRPr sz="1400"/>
            </a:pPr>
            <a:r>
              <a:t>4. Prepare for Week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